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B99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" y="6327648"/>
            <a:ext cx="11978640" cy="530352"/>
          </a:xfrm>
          <a:prstGeom prst="rect">
            <a:avLst/>
          </a:prstGeom>
          <a:solidFill>
            <a:srgbClr val="315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149840" cy="1508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5000" b="1">
                <a:solidFill>
                  <a:srgbClr val="FFFFFF"/>
                </a:solidFill>
                <a:latin typeface="Microsoft YaHei"/>
              </a:defRPr>
            </a:pPr>
            <a:r>
              <a:t>课程主题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703320"/>
            <a:ext cx="896112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imSun"/>
              </a:defRPr>
            </a:pPr>
            <a:r>
              <a:t>授课对象 · 课时 · 教学目标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5660136"/>
            <a:ext cx="3108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学术教学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67284"/>
                </a:solidFill>
                <a:latin typeface="SimSun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B9975B"/>
                </a:solidFill>
                <a:latin typeface="Microsoft YaHe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17263B"/>
                </a:solidFill>
                <a:latin typeface="Microsoft YaHei"/>
              </a:defRPr>
            </a:pPr>
            <a:r>
              <a:t>课程目录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315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6400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900" b="1">
                <a:solidFill>
                  <a:srgbClr val="B9975B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399032"/>
            <a:ext cx="93726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7263B"/>
                </a:solidFill>
                <a:latin typeface="SimSun"/>
              </a:defRPr>
            </a:pPr>
            <a:r>
              <a:t>课程导入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1911095"/>
            <a:ext cx="9098280" cy="10972"/>
          </a:xfrm>
          <a:prstGeom prst="rect">
            <a:avLst/>
          </a:prstGeom>
          <a:solidFill>
            <a:srgbClr val="667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6400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900" b="1">
                <a:solidFill>
                  <a:srgbClr val="B9975B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103120"/>
            <a:ext cx="93726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7263B"/>
                </a:solidFill>
                <a:latin typeface="SimSun"/>
              </a:defRPr>
            </a:pPr>
            <a:r>
              <a:t>核心概念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" y="2615184"/>
            <a:ext cx="9098280" cy="10972"/>
          </a:xfrm>
          <a:prstGeom prst="rect">
            <a:avLst/>
          </a:prstGeom>
          <a:solidFill>
            <a:srgbClr val="667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25496"/>
            <a:ext cx="6400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900" b="1">
                <a:solidFill>
                  <a:srgbClr val="B9975B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807208"/>
            <a:ext cx="93726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7263B"/>
                </a:solidFill>
                <a:latin typeface="SimSun"/>
              </a:defRPr>
            </a:pPr>
            <a:r>
              <a:t>案例实践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1640" y="3319272"/>
            <a:ext cx="9098280" cy="10972"/>
          </a:xfrm>
          <a:prstGeom prst="rect">
            <a:avLst/>
          </a:prstGeom>
          <a:solidFill>
            <a:srgbClr val="667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29584"/>
            <a:ext cx="6400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900" b="1">
                <a:solidFill>
                  <a:srgbClr val="B9975B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511296"/>
            <a:ext cx="93726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7263B"/>
                </a:solidFill>
                <a:latin typeface="SimSun"/>
              </a:defRPr>
            </a:pPr>
            <a:r>
              <a:t>总结提升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1640" y="4023360"/>
            <a:ext cx="9098280" cy="10972"/>
          </a:xfrm>
          <a:prstGeom prst="rect">
            <a:avLst/>
          </a:prstGeom>
          <a:solidFill>
            <a:srgbClr val="667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67284"/>
                </a:solidFill>
                <a:latin typeface="SimSun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B9975B"/>
                </a:solidFill>
                <a:latin typeface="Microsoft YaHei"/>
              </a:defRPr>
            </a:pPr>
            <a:r>
              <a:t>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17263B"/>
                </a:solidFill>
                <a:latin typeface="Microsoft YaHei"/>
              </a:defRPr>
            </a:pPr>
            <a:r>
              <a:t>核心内容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315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5358384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67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48463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315B7D"/>
                </a:solidFill>
                <a:latin typeface="Microsoft YaHei"/>
              </a:defRPr>
            </a:pPr>
            <a:r>
              <a:t>教学内容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920240"/>
            <a:ext cx="4864608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7263B"/>
                </a:solidFill>
                <a:latin typeface="SimSun"/>
              </a:defRPr>
            </a:pPr>
            <a:r>
              <a:t>正文｜在这里填写本页的关键概念、方法或案例。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7263B"/>
                </a:solidFill>
                <a:latin typeface="SimSun"/>
              </a:defRPr>
            </a:pPr>
            <a:r>
              <a:t>• 要点｜教学要点一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7263B"/>
                </a:solidFill>
                <a:latin typeface="SimSun"/>
              </a:defRPr>
            </a:pPr>
            <a:r>
              <a:t>• 要点｜教学要点二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98448"/>
            <a:ext cx="5321808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67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463039"/>
            <a:ext cx="4809744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315B7D"/>
                </a:solidFill>
                <a:latin typeface="Microsoft YaHei"/>
              </a:defRPr>
            </a:pPr>
            <a:r>
              <a:t>讲授分段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28032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7263B"/>
                </a:solidFill>
                <a:latin typeface="SimSun"/>
              </a:defRPr>
            </a:pPr>
            <a:r>
              <a:t>导入 · 30秒｜用问题或场景引入本页。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7263B"/>
                </a:solidFill>
                <a:latin typeface="SimSun"/>
              </a:defRPr>
            </a:pPr>
            <a:r>
              <a:t>讲解 · 1分30秒｜讲清概念，并连接学生已有知识。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7263B"/>
                </a:solidFill>
                <a:latin typeface="SimSun"/>
              </a:defRPr>
            </a:pPr>
            <a:r>
              <a:t>互动 · 45秒｜设置一个可现场回应的问题。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67284"/>
                </a:solidFill>
                <a:latin typeface="SimSun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B9975B"/>
                </a:solidFill>
                <a:latin typeface="Microsoft YaHei"/>
              </a:defRPr>
            </a:pPr>
            <a:r>
              <a:t>TWO COLUMN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17263B"/>
                </a:solidFill>
                <a:latin typeface="Microsoft YaHei"/>
              </a:defRPr>
            </a:pPr>
            <a:r>
              <a:t>双栏讲授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315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510235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67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459028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315B7D"/>
                </a:solidFill>
                <a:latin typeface="Microsoft YaHei"/>
              </a:defRPr>
            </a:pPr>
            <a: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920240"/>
            <a:ext cx="4608576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7263B"/>
                </a:solidFill>
                <a:latin typeface="SimSun"/>
              </a:defRPr>
            </a:pPr>
            <a:r>
              <a:t>• 要点｜左栏聚焦核心结论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7263B"/>
                </a:solidFill>
                <a:latin typeface="SimSun"/>
              </a:defRPr>
            </a:pPr>
            <a:r>
              <a:t>• 要点｜要点保持可快速扫描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298448"/>
            <a:ext cx="537667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67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39"/>
            <a:ext cx="486460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315B7D"/>
                </a:solidFill>
                <a:latin typeface="Microsoft YaHei"/>
              </a:defRPr>
            </a:pPr>
            <a:r>
              <a:t>讲授分段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656" y="1920240"/>
            <a:ext cx="4882896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7263B"/>
                </a:solidFill>
                <a:latin typeface="SimSun"/>
              </a:defRPr>
            </a:pPr>
            <a:r>
              <a:t>讲解 · 1分钟｜右栏呈现讲授分段与时长。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7263B"/>
                </a:solidFill>
                <a:latin typeface="SimSun"/>
              </a:defRPr>
            </a:pPr>
            <a:r>
              <a:t>互动 · 45秒｜以问题检验学生理解。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67284"/>
                </a:solidFill>
                <a:latin typeface="SimSun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B9975B"/>
                </a:solidFill>
                <a:latin typeface="Microsoft YaHei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17263B"/>
                </a:solidFill>
                <a:latin typeface="Microsoft YaHei"/>
              </a:defRPr>
            </a:pPr>
            <a:r>
              <a:t>本节小结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315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353312"/>
            <a:ext cx="82296" cy="4709160"/>
          </a:xfrm>
          <a:prstGeom prst="rect">
            <a:avLst/>
          </a:prstGeom>
          <a:solidFill>
            <a:srgbClr val="B99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1600200"/>
            <a:ext cx="164592" cy="164592"/>
          </a:xfrm>
          <a:prstGeom prst="ellipse">
            <a:avLst/>
          </a:prstGeom>
          <a:solidFill>
            <a:srgbClr val="315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9888" y="1481328"/>
            <a:ext cx="9555480" cy="6126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7263B"/>
                </a:solidFill>
                <a:latin typeface="SimSun"/>
              </a:defRPr>
            </a:pPr>
            <a:r>
              <a:t>回顾核心结论</a:t>
            </a:r>
          </a:p>
        </p:txBody>
      </p:sp>
      <p:sp>
        <p:nvSpPr>
          <p:cNvPr id="9" name="Oval 8"/>
          <p:cNvSpPr/>
          <p:nvPr/>
        </p:nvSpPr>
        <p:spPr>
          <a:xfrm>
            <a:off x="987552" y="2313432"/>
            <a:ext cx="164592" cy="164592"/>
          </a:xfrm>
          <a:prstGeom prst="ellipse">
            <a:avLst/>
          </a:prstGeom>
          <a:solidFill>
            <a:srgbClr val="315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194560"/>
            <a:ext cx="9555480" cy="6126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7263B"/>
                </a:solidFill>
                <a:latin typeface="SimSun"/>
              </a:defRPr>
            </a:pPr>
            <a:r>
              <a:t>检查学习目标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3026664"/>
            <a:ext cx="164592" cy="164592"/>
          </a:xfrm>
          <a:prstGeom prst="ellipse">
            <a:avLst/>
          </a:prstGeom>
          <a:solidFill>
            <a:srgbClr val="315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2907792"/>
            <a:ext cx="9555480" cy="6126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7263B"/>
                </a:solidFill>
                <a:latin typeface="SimSun"/>
              </a:defRPr>
            </a:pPr>
            <a:r>
              <a:t>说明课后应用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教学课件模板</dc:title>
  <dc:subject>多模态 AI 互动式教学课件</dc:subject>
  <dc:creator>多模态 AI 互动式教学智能体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