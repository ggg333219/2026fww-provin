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B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E8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0312" y="6327648"/>
            <a:ext cx="11978640" cy="530352"/>
          </a:xfrm>
          <a:prstGeom prst="rect">
            <a:avLst/>
          </a:prstGeom>
          <a:solidFill>
            <a:srgbClr val="2F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149840" cy="1508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Microsoft YaHei"/>
              </a:defRPr>
            </a:pPr>
            <a:r>
              <a:t>排序算法课堂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3703320"/>
            <a:ext cx="89611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六节点预览与导出同源验收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5660136"/>
            <a:ext cx="31089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通用教学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45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0"/>
            <a:ext cx="109728" cy="6858000"/>
          </a:xfrm>
          <a:prstGeom prst="rect">
            <a:avLst/>
          </a:prstGeom>
          <a:solidFill>
            <a:srgbClr val="E8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10312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2057400"/>
            <a:ext cx="6812280" cy="1554480"/>
          </a:xfrm>
          <a:prstGeom prst="rect">
            <a:avLst/>
          </a:prstGeom>
          <a:noFill/>
        </p:spPr>
        <p:txBody>
          <a:bodyPr wrap="square" anchor="ctr" lIns="18288" rIns="18288" tIns="9144" bIns="9144">
            <a:noAutofit/>
          </a:bodyPr>
          <a:lstStyle/>
          <a:p>
            <a:pPr algn="l">
              <a:defRPr sz="4200" b="1">
                <a:solidFill>
                  <a:srgbClr val="183042"/>
                </a:solidFill>
                <a:latin typeface="Microsoft YaHei"/>
              </a:defRPr>
            </a:pPr>
            <a:r>
              <a:t>学习目录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794760"/>
            <a:ext cx="63093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300" b="0">
                <a:solidFill>
                  <a:srgbClr val="627987"/>
                </a:solidFill>
                <a:latin typeface="Microsoft YaHei"/>
              </a:defRPr>
            </a:pPr>
            <a:r>
              <a:t>从复杂度概念走向算法选择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复杂度基础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58384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8463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教学内容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864608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正文｜复杂度描述算法耗时随数据规模增长的趋势。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要点｜时间复杂度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要点｜空间复杂度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98448"/>
            <a:ext cx="5321808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463039"/>
            <a:ext cx="4809744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828032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导入 · 45秒｜从查找成绩的耗时问题导入。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讲解 · 1分30秒｜讲解大 O 表示法。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TWO 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算法对比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10235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459028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核心要点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1920240"/>
            <a:ext cx="460857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要点｜冒泡排序稳定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• 要点｜快速排序平均更快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298448"/>
            <a:ext cx="5376672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6279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63039"/>
            <a:ext cx="486460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500" b="1">
                <a:solidFill>
                  <a:srgbClr val="2F7E83"/>
                </a:solidFill>
                <a:latin typeface="Microsoft YaHei"/>
              </a:defRPr>
            </a:pPr>
            <a:r>
              <a:t>内容与讲授分段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656" y="1920240"/>
            <a:ext cx="4882896" cy="4069079"/>
          </a:xfrm>
          <a:prstGeom prst="rect">
            <a:avLst/>
          </a:prstGeom>
          <a:noFill/>
        </p:spPr>
        <p:txBody>
          <a:bodyPr wrap="square" lIns="27432" rIns="27432" tIns="18288" bIns="18288">
            <a:noAutofit/>
          </a:bodyPr>
          <a:lstStyle/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正文｜比较不同排序算法的适用场景。</a:t>
            </a:r>
          </a:p>
          <a:p>
            <a:pPr>
              <a:lnSpc>
                <a:spcPct val="113000"/>
              </a:lnSpc>
              <a:spcAft>
                <a:spcPts val="700"/>
              </a:spcAft>
              <a:defRPr sz="1800">
                <a:solidFill>
                  <a:srgbClr val="183042"/>
                </a:solidFill>
                <a:latin typeface="Microsoft YaHei"/>
              </a:defRPr>
            </a:pPr>
            <a:r>
              <a:t>示例 · 1分钟｜对比 O(n²) 与 O(n log n)。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课堂检测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530352" cy="530352"/>
          </a:xfrm>
          <a:prstGeom prst="roundRect">
            <a:avLst/>
          </a:prstGeom>
          <a:solidFill>
            <a:srgbClr val="E8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530352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44752"/>
            <a:ext cx="964692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400" b="0">
                <a:solidFill>
                  <a:srgbClr val="183042"/>
                </a:solidFill>
                <a:latin typeface="Microsoft YaHei"/>
              </a:defRPr>
            </a:pPr>
            <a:r>
              <a:t>哪种算法平均复杂度为 O(n log n)？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92840" y="6446520"/>
            <a:ext cx="411480" cy="20116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r">
              <a:defRPr sz="900" b="0">
                <a:solidFill>
                  <a:srgbClr val="627987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2011680" cy="219456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1000" b="1">
                <a:solidFill>
                  <a:srgbClr val="E89B52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744200" cy="512064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3400" b="1">
                <a:solidFill>
                  <a:srgbClr val="183042"/>
                </a:solidFill>
                <a:latin typeface="Microsoft YaHei"/>
              </a:defRPr>
            </a:pPr>
            <a:r>
              <a:t>课程小结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161288"/>
            <a:ext cx="10863072" cy="18288"/>
          </a:xfrm>
          <a:prstGeom prst="rect">
            <a:avLst/>
          </a:prstGeom>
          <a:solidFill>
            <a:srgbClr val="2F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53312"/>
            <a:ext cx="82296" cy="4709160"/>
          </a:xfrm>
          <a:prstGeom prst="rect">
            <a:avLst/>
          </a:prstGeom>
          <a:solidFill>
            <a:srgbClr val="E89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600200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9888" y="1481328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选择算法要结合数据规模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2313432"/>
            <a:ext cx="164592" cy="164592"/>
          </a:xfrm>
          <a:prstGeom prst="ellipse">
            <a:avLst/>
          </a:prstGeom>
          <a:solidFill>
            <a:srgbClr val="2F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194560"/>
            <a:ext cx="9555480" cy="612648"/>
          </a:xfrm>
          <a:prstGeom prst="rect">
            <a:avLst/>
          </a:prstGeom>
          <a:noFill/>
        </p:spPr>
        <p:txBody>
          <a:bodyPr wrap="square" anchor="t" lIns="18288" rIns="18288" tIns="9144" bIns="9144">
            <a:noAutofit/>
          </a:bodyPr>
          <a:lstStyle/>
          <a:p>
            <a:pPr algn="l">
              <a:defRPr sz="2500" b="0">
                <a:solidFill>
                  <a:srgbClr val="183042"/>
                </a:solidFill>
                <a:latin typeface="Microsoft YaHei"/>
              </a:defRPr>
            </a:pPr>
            <a:r>
              <a:t>关注时间与空间权衡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member3_six_node_consistency</dc:title>
  <dc:subject>多模态 AI 互动式教学课件</dc:subject>
  <dc:creator>多模态 AI 互动式教学智能体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