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28816"/>
            <a:ext cx="10863072" cy="10972"/>
          </a:xfrm>
          <a:prstGeom prst="rect">
            <a:avLst/>
          </a:prstGeom>
          <a:solidFill>
            <a:srgbClr val="7889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47548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900" b="0">
                <a:solidFill>
                  <a:srgbClr val="788986"/>
                </a:solidFill>
                <a:latin typeface="Microsoft YaHei"/>
                <a:ea typeface="微软雅黑"/>
              </a:defRPr>
            </a:pPr>
            <a:r>
              <a:rPr sz="900" b="0">
                <a:solidFill>
                  <a:srgbClr val="788986"/>
                </a:solidFill>
                <a:latin typeface="Microsoft YaHei"/>
                <a:ea typeface="微软雅黑"/>
              </a:rPr>
              <a:t>多模态 AI 互动式教学智能体 · 教学课件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8096" cy="1060704"/>
          </a:xfrm>
          <a:prstGeom prst="rect">
            <a:avLst/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02336"/>
            <a:ext cx="95097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3200" b="1">
                <a:solidFill>
                  <a:srgbClr val="FFFFFF"/>
                </a:solidFill>
                <a:latin typeface="Microsoft YaHei"/>
                <a:ea typeface="微软雅黑"/>
              </a:rPr>
              <a:t>冒泡排序的执行流程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402336"/>
            <a:ext cx="822960" cy="40233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微软雅黑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98448"/>
            <a:ext cx="3291840" cy="4892040"/>
          </a:xfrm>
          <a:prstGeom prst="roundRect">
            <a:avLst>
              <a:gd name="adj" fmla="val 2314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39"/>
            <a:ext cx="277977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0B4F49"/>
                </a:solidFill>
                <a:latin typeface="Microsoft YaHei"/>
                <a:ea typeface="微软雅黑"/>
              </a:defRPr>
            </a:pPr>
            <a:r>
              <a:rPr sz="1500" b="1">
                <a:solidFill>
                  <a:srgbClr val="0B4F49"/>
                </a:solidFill>
                <a:latin typeface="Microsoft YaHei"/>
                <a:ea typeface="微软雅黑"/>
              </a:rPr>
              <a:t>核心要点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" y="1920240"/>
            <a:ext cx="2798064" cy="424815"/>
          </a:xfrm>
          <a:prstGeom prst="roundRect">
            <a:avLst>
              <a:gd name="adj" fmla="val 17937"/>
            </a:avLst>
          </a:prstGeom>
          <a:solidFill>
            <a:srgbClr val="EAF4F1"/>
          </a:solidFill>
          <a:ln w="9525">
            <a:solidFill>
              <a:srgbClr val="DF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3" y="1920240"/>
            <a:ext cx="2578608" cy="424815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7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700" b="0">
                <a:solidFill>
                  <a:srgbClr val="18322F"/>
                </a:solidFill>
                <a:latin typeface="Microsoft YaHei"/>
                <a:ea typeface="微软雅黑"/>
              </a:rPr>
              <a:t>· 相邻两两比较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" y="2440305"/>
            <a:ext cx="2798064" cy="424815"/>
          </a:xfrm>
          <a:prstGeom prst="roundRect">
            <a:avLst>
              <a:gd name="adj" fmla="val 17937"/>
            </a:avLst>
          </a:prstGeom>
          <a:solidFill>
            <a:srgbClr val="EAF4F1"/>
          </a:solidFill>
          <a:ln w="9525">
            <a:solidFill>
              <a:srgbClr val="DF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3" y="2440305"/>
            <a:ext cx="2578608" cy="424815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7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700" b="0">
                <a:solidFill>
                  <a:srgbClr val="18322F"/>
                </a:solidFill>
                <a:latin typeface="Microsoft YaHei"/>
                <a:ea typeface="微软雅黑"/>
              </a:rPr>
              <a:t>· 逆序就交换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" y="2960370"/>
            <a:ext cx="2798064" cy="424815"/>
          </a:xfrm>
          <a:prstGeom prst="roundRect">
            <a:avLst>
              <a:gd name="adj" fmla="val 17937"/>
            </a:avLst>
          </a:prstGeom>
          <a:solidFill>
            <a:srgbClr val="EAF4F1"/>
          </a:solidFill>
          <a:ln w="9525">
            <a:solidFill>
              <a:srgbClr val="DF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4983" y="2960370"/>
            <a:ext cx="2578608" cy="424815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7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700" b="0">
                <a:solidFill>
                  <a:srgbClr val="18322F"/>
                </a:solidFill>
                <a:latin typeface="Microsoft YaHei"/>
                <a:ea typeface="微软雅黑"/>
              </a:rPr>
              <a:t>· 每轮归位一个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33087" y="1298448"/>
            <a:ext cx="7388352" cy="2240280"/>
          </a:xfrm>
          <a:prstGeom prst="roundRect">
            <a:avLst>
              <a:gd name="adj" fmla="val 3401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13808" y="1905152"/>
            <a:ext cx="2123541" cy="1179576"/>
          </a:xfrm>
          <a:prstGeom prst="roundRect">
            <a:avLst>
              <a:gd name="adj" fmla="val 6459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370423" y="1991105"/>
            <a:ext cx="210312" cy="210312"/>
          </a:xfrm>
          <a:prstGeom prst="ellipse">
            <a:avLst/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70423" y="1991105"/>
            <a:ext cx="210312" cy="2103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微软雅黑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6960" y="2268169"/>
            <a:ext cx="1977237" cy="7616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10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22F"/>
                </a:solidFill>
                <a:latin typeface="Microsoft YaHei"/>
                <a:ea typeface="微软雅黑"/>
              </a:rPr>
              <a:t>比较相邻两个元素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070" y="2481224"/>
            <a:ext cx="137160" cy="27432"/>
          </a:xfrm>
          <a:prstGeom prst="rect">
            <a:avLst/>
          </a:prstGeom>
          <a:solidFill>
            <a:srgbClr val="0B4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5400000">
            <a:off x="6628790" y="2435504"/>
            <a:ext cx="118872" cy="118872"/>
          </a:xfrm>
          <a:prstGeom prst="triangle">
            <a:avLst/>
          </a:prstGeom>
          <a:solidFill>
            <a:srgbClr val="0B4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65950" y="1905152"/>
            <a:ext cx="2123541" cy="1179576"/>
          </a:xfrm>
          <a:prstGeom prst="roundRect">
            <a:avLst>
              <a:gd name="adj" fmla="val 6459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22565" y="1991105"/>
            <a:ext cx="210312" cy="210312"/>
          </a:xfrm>
          <a:prstGeom prst="ellipse">
            <a:avLst/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2565" y="1991105"/>
            <a:ext cx="210312" cy="2103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微软雅黑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9102" y="2268169"/>
            <a:ext cx="1977237" cy="7616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10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22F"/>
                </a:solidFill>
                <a:latin typeface="Microsoft YaHei"/>
                <a:ea typeface="微软雅黑"/>
              </a:rPr>
              <a:t>逆序则交换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35212" y="2481224"/>
            <a:ext cx="137159" cy="27432"/>
          </a:xfrm>
          <a:prstGeom prst="rect">
            <a:avLst/>
          </a:prstGeom>
          <a:solidFill>
            <a:srgbClr val="0B4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sosceles Triangle 26"/>
          <p:cNvSpPr/>
          <p:nvPr/>
        </p:nvSpPr>
        <p:spPr>
          <a:xfrm rot="5400000">
            <a:off x="8980931" y="2435504"/>
            <a:ext cx="118872" cy="118872"/>
          </a:xfrm>
          <a:prstGeom prst="triangle">
            <a:avLst/>
          </a:prstGeom>
          <a:solidFill>
            <a:srgbClr val="0B4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18092" y="1905152"/>
            <a:ext cx="2123541" cy="1179576"/>
          </a:xfrm>
          <a:prstGeom prst="roundRect">
            <a:avLst>
              <a:gd name="adj" fmla="val 6459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74706" y="1991105"/>
            <a:ext cx="210312" cy="210312"/>
          </a:xfrm>
          <a:prstGeom prst="ellipse">
            <a:avLst/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74706" y="1991105"/>
            <a:ext cx="210312" cy="2103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微软雅黑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91244" y="2268169"/>
            <a:ext cx="1977237" cy="7616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10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22F"/>
                </a:solidFill>
                <a:latin typeface="Microsoft YaHei"/>
                <a:ea typeface="微软雅黑"/>
              </a:rPr>
              <a:t>本轮最大值归位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33087" y="3666744"/>
            <a:ext cx="7388352" cy="2523744"/>
          </a:xfrm>
          <a:prstGeom prst="roundRect">
            <a:avLst>
              <a:gd name="adj" fmla="val 3019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4224528"/>
            <a:ext cx="6858000" cy="330327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500" b="0">
                <a:solidFill>
                  <a:srgbClr val="18322F"/>
                </a:solidFill>
                <a:latin typeface="Microsoft YaHei"/>
                <a:ea typeface="微软雅黑"/>
              </a:rPr>
              <a:t>每一轮把当前未排序部分的最大值送到末尾。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4628006"/>
            <a:ext cx="50292" cy="322326"/>
          </a:xfrm>
          <a:prstGeom prst="rect">
            <a:avLst/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0" y="4573143"/>
            <a:ext cx="6473952" cy="48691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2200" b="1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2200" b="1">
                <a:solidFill>
                  <a:srgbClr val="18322F"/>
                </a:solidFill>
                <a:latin typeface="Microsoft YaHei"/>
                <a:ea typeface="微软雅黑"/>
              </a:rPr>
              <a:t>n 个元素最多需要 n-1 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5133213"/>
            <a:ext cx="6858000" cy="31318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4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400" b="0">
                <a:solidFill>
                  <a:srgbClr val="18322F"/>
                </a:solidFill>
                <a:latin typeface="Microsoft YaHei"/>
                <a:ea typeface="微软雅黑"/>
              </a:rPr>
              <a:t>• 为什么是 n-1 轮：每轮至少归位一个元素，最后一个不必再比。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28816"/>
            <a:ext cx="10863072" cy="10972"/>
          </a:xfrm>
          <a:prstGeom prst="rect">
            <a:avLst/>
          </a:prstGeom>
          <a:solidFill>
            <a:srgbClr val="7889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47548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900" b="0">
                <a:solidFill>
                  <a:srgbClr val="788986"/>
                </a:solidFill>
                <a:latin typeface="Microsoft YaHei"/>
                <a:ea typeface="微软雅黑"/>
              </a:defRPr>
            </a:pPr>
            <a:r>
              <a:rPr sz="900" b="0">
                <a:solidFill>
                  <a:srgbClr val="788986"/>
                </a:solidFill>
                <a:latin typeface="Microsoft YaHei"/>
                <a:ea typeface="微软雅黑"/>
              </a:rPr>
              <a:t>多模态 AI 互动式教学智能体 · 教学课件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8096" cy="1060704"/>
          </a:xfrm>
          <a:prstGeom prst="rect">
            <a:avLst/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02336"/>
            <a:ext cx="95097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3200" b="1">
                <a:solidFill>
                  <a:srgbClr val="FFFFFF"/>
                </a:solidFill>
                <a:latin typeface="Microsoft YaHei"/>
                <a:ea typeface="微软雅黑"/>
              </a:rPr>
              <a:t>冒泡排序的执行流程（续 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402336"/>
            <a:ext cx="822960" cy="40233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微软雅黑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98448"/>
            <a:ext cx="3291840" cy="4892040"/>
          </a:xfrm>
          <a:prstGeom prst="roundRect">
            <a:avLst>
              <a:gd name="adj" fmla="val 2314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39"/>
            <a:ext cx="277977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0B4F49"/>
                </a:solidFill>
                <a:latin typeface="Microsoft YaHei"/>
                <a:ea typeface="微软雅黑"/>
              </a:defRPr>
            </a:pPr>
            <a:r>
              <a:rPr sz="1500" b="1">
                <a:solidFill>
                  <a:srgbClr val="0B4F49"/>
                </a:solidFill>
                <a:latin typeface="Microsoft YaHei"/>
                <a:ea typeface="微软雅黑"/>
              </a:rPr>
              <a:t>核心要点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" y="1920240"/>
            <a:ext cx="2798064" cy="424815"/>
          </a:xfrm>
          <a:prstGeom prst="roundRect">
            <a:avLst>
              <a:gd name="adj" fmla="val 17937"/>
            </a:avLst>
          </a:prstGeom>
          <a:solidFill>
            <a:srgbClr val="EAF4F1"/>
          </a:solidFill>
          <a:ln w="9525">
            <a:solidFill>
              <a:srgbClr val="DF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3" y="1920240"/>
            <a:ext cx="2578608" cy="424815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7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700" b="0">
                <a:solidFill>
                  <a:srgbClr val="18322F"/>
                </a:solidFill>
                <a:latin typeface="Microsoft YaHei"/>
                <a:ea typeface="微软雅黑"/>
              </a:rPr>
              <a:t>· 相邻两两比较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" y="2440305"/>
            <a:ext cx="2798064" cy="424815"/>
          </a:xfrm>
          <a:prstGeom prst="roundRect">
            <a:avLst>
              <a:gd name="adj" fmla="val 17937"/>
            </a:avLst>
          </a:prstGeom>
          <a:solidFill>
            <a:srgbClr val="EAF4F1"/>
          </a:solidFill>
          <a:ln w="9525">
            <a:solidFill>
              <a:srgbClr val="DF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3" y="2440305"/>
            <a:ext cx="2578608" cy="424815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7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700" b="0">
                <a:solidFill>
                  <a:srgbClr val="18322F"/>
                </a:solidFill>
                <a:latin typeface="Microsoft YaHei"/>
                <a:ea typeface="微软雅黑"/>
              </a:rPr>
              <a:t>· 逆序就交换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" y="2960370"/>
            <a:ext cx="2798064" cy="424815"/>
          </a:xfrm>
          <a:prstGeom prst="roundRect">
            <a:avLst>
              <a:gd name="adj" fmla="val 17937"/>
            </a:avLst>
          </a:prstGeom>
          <a:solidFill>
            <a:srgbClr val="EAF4F1"/>
          </a:solidFill>
          <a:ln w="9525">
            <a:solidFill>
              <a:srgbClr val="DF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4983" y="2960370"/>
            <a:ext cx="2578608" cy="424815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7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700" b="0">
                <a:solidFill>
                  <a:srgbClr val="18322F"/>
                </a:solidFill>
                <a:latin typeface="Microsoft YaHei"/>
                <a:ea typeface="微软雅黑"/>
              </a:rPr>
              <a:t>· 每轮归位一个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33087" y="1298448"/>
            <a:ext cx="7388352" cy="4892040"/>
          </a:xfrm>
          <a:prstGeom prst="roundRect">
            <a:avLst>
              <a:gd name="adj" fmla="val 1557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856231"/>
            <a:ext cx="6858000" cy="31318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4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400" b="0">
                <a:solidFill>
                  <a:srgbClr val="18322F"/>
                </a:solidFill>
                <a:latin typeface="Microsoft YaHei"/>
                <a:ea typeface="微软雅黑"/>
              </a:rPr>
              <a:t>• 相邻两两比较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187702"/>
            <a:ext cx="6858000" cy="31318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4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400" b="0">
                <a:solidFill>
                  <a:srgbClr val="18322F"/>
                </a:solidFill>
                <a:latin typeface="Microsoft YaHei"/>
                <a:ea typeface="微软雅黑"/>
              </a:rPr>
              <a:t>• 逆序就交换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19172"/>
            <a:ext cx="6858000" cy="31318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4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400" b="0">
                <a:solidFill>
                  <a:srgbClr val="18322F"/>
                </a:solidFill>
                <a:latin typeface="Microsoft YaHei"/>
                <a:ea typeface="微软雅黑"/>
              </a:rPr>
              <a:t>• 每轮归位一个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28816"/>
            <a:ext cx="10863072" cy="10972"/>
          </a:xfrm>
          <a:prstGeom prst="rect">
            <a:avLst/>
          </a:prstGeom>
          <a:solidFill>
            <a:srgbClr val="7889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47548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900" b="0">
                <a:solidFill>
                  <a:srgbClr val="788986"/>
                </a:solidFill>
                <a:latin typeface="Microsoft YaHei"/>
                <a:ea typeface="微软雅黑"/>
              </a:defRPr>
            </a:pPr>
            <a:r>
              <a:rPr sz="900" b="0">
                <a:solidFill>
                  <a:srgbClr val="788986"/>
                </a:solidFill>
                <a:latin typeface="Microsoft YaHei"/>
                <a:ea typeface="微软雅黑"/>
              </a:rPr>
              <a:t>多模态 AI 互动式教学智能体 · 教学课件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8096" cy="1060704"/>
          </a:xfrm>
          <a:prstGeom prst="rect">
            <a:avLst/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02336"/>
            <a:ext cx="95097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3200" b="1">
                <a:solidFill>
                  <a:srgbClr val="FFFFFF"/>
                </a:solidFill>
                <a:latin typeface="Microsoft YaHei"/>
                <a:ea typeface="微软雅黑"/>
              </a:rPr>
              <a:t>冒泡排序与快速排序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402336"/>
            <a:ext cx="822960" cy="40233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微软雅黑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98448"/>
            <a:ext cx="3291840" cy="4892040"/>
          </a:xfrm>
          <a:prstGeom prst="roundRect">
            <a:avLst>
              <a:gd name="adj" fmla="val 2314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39"/>
            <a:ext cx="277977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0B4F49"/>
                </a:solidFill>
                <a:latin typeface="Microsoft YaHei"/>
                <a:ea typeface="微软雅黑"/>
              </a:defRPr>
            </a:pPr>
            <a:r>
              <a:rPr sz="1500" b="1">
                <a:solidFill>
                  <a:srgbClr val="0B4F49"/>
                </a:solidFill>
                <a:latin typeface="Microsoft YaHei"/>
                <a:ea typeface="微软雅黑"/>
              </a:rPr>
              <a:t>核心要点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" y="1920240"/>
            <a:ext cx="2798064" cy="424815"/>
          </a:xfrm>
          <a:prstGeom prst="roundRect">
            <a:avLst>
              <a:gd name="adj" fmla="val 17937"/>
            </a:avLst>
          </a:prstGeom>
          <a:solidFill>
            <a:srgbClr val="EAF4F1"/>
          </a:solidFill>
          <a:ln w="9525">
            <a:solidFill>
              <a:srgbClr val="DF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3" y="1920240"/>
            <a:ext cx="2578608" cy="424815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7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700" b="0">
                <a:solidFill>
                  <a:srgbClr val="18322F"/>
                </a:solidFill>
                <a:latin typeface="Microsoft YaHei"/>
                <a:ea typeface="微软雅黑"/>
              </a:rPr>
              <a:t>· 冒泡稳定但慢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" y="2440305"/>
            <a:ext cx="2798064" cy="424815"/>
          </a:xfrm>
          <a:prstGeom prst="roundRect">
            <a:avLst>
              <a:gd name="adj" fmla="val 17937"/>
            </a:avLst>
          </a:prstGeom>
          <a:solidFill>
            <a:srgbClr val="EAF4F1"/>
          </a:solidFill>
          <a:ln w="9525">
            <a:solidFill>
              <a:srgbClr val="DF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3" y="2440305"/>
            <a:ext cx="2578608" cy="424815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7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700" b="0">
                <a:solidFill>
                  <a:srgbClr val="18322F"/>
                </a:solidFill>
                <a:latin typeface="Microsoft YaHei"/>
                <a:ea typeface="微软雅黑"/>
              </a:rPr>
              <a:t>· 快速快但不稳定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33087" y="1298448"/>
            <a:ext cx="7388352" cy="2240280"/>
          </a:xfrm>
          <a:prstGeom prst="roundRect">
            <a:avLst>
              <a:gd name="adj" fmla="val 3401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13808" y="1542592"/>
            <a:ext cx="3327044" cy="1904695"/>
          </a:xfrm>
          <a:prstGeom prst="roundRect">
            <a:avLst>
              <a:gd name="adj" fmla="val 4000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13808" y="1542592"/>
            <a:ext cx="3327044" cy="342900"/>
          </a:xfrm>
          <a:prstGeom prst="rect">
            <a:avLst/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5248" y="1542592"/>
            <a:ext cx="3144164" cy="3429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  <a:ea typeface="微软雅黑"/>
              </a:rPr>
              <a:t>冒泡排序</a:t>
            </a:r>
          </a:p>
        </p:txBody>
      </p:sp>
      <p:sp>
        <p:nvSpPr>
          <p:cNvPr id="17" name="Oval 16"/>
          <p:cNvSpPr/>
          <p:nvPr/>
        </p:nvSpPr>
        <p:spPr>
          <a:xfrm>
            <a:off x="4551883" y="2119579"/>
            <a:ext cx="66751" cy="66751"/>
          </a:xfrm>
          <a:prstGeom prst="ellipse">
            <a:avLst/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0016" y="1961388"/>
            <a:ext cx="2924708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0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22F"/>
                </a:solidFill>
                <a:latin typeface="Microsoft YaHei"/>
                <a:ea typeface="微软雅黑"/>
              </a:rPr>
              <a:t>原地排序</a:t>
            </a:r>
          </a:p>
        </p:txBody>
      </p:sp>
      <p:sp>
        <p:nvSpPr>
          <p:cNvPr id="19" name="Oval 18"/>
          <p:cNvSpPr/>
          <p:nvPr/>
        </p:nvSpPr>
        <p:spPr>
          <a:xfrm>
            <a:off x="4551883" y="2503627"/>
            <a:ext cx="66751" cy="66751"/>
          </a:xfrm>
          <a:prstGeom prst="ellipse">
            <a:avLst/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0016" y="2345436"/>
            <a:ext cx="2924708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0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22F"/>
                </a:solidFill>
                <a:latin typeface="Microsoft YaHei"/>
                <a:ea typeface="微软雅黑"/>
              </a:rPr>
              <a:t>稳定</a:t>
            </a:r>
          </a:p>
        </p:txBody>
      </p:sp>
      <p:sp>
        <p:nvSpPr>
          <p:cNvPr id="21" name="Oval 20"/>
          <p:cNvSpPr/>
          <p:nvPr/>
        </p:nvSpPr>
        <p:spPr>
          <a:xfrm>
            <a:off x="4551883" y="2887675"/>
            <a:ext cx="66751" cy="66751"/>
          </a:xfrm>
          <a:prstGeom prst="ellipse">
            <a:avLst/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0016" y="2729484"/>
            <a:ext cx="2924708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0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22F"/>
                </a:solidFill>
                <a:latin typeface="Microsoft YaHei"/>
                <a:ea typeface="微软雅黑"/>
              </a:rPr>
              <a:t>平均 O(n²)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14589" y="1542592"/>
            <a:ext cx="3327044" cy="1904695"/>
          </a:xfrm>
          <a:prstGeom prst="roundRect">
            <a:avLst>
              <a:gd name="adj" fmla="val 4000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14589" y="1542592"/>
            <a:ext cx="3327044" cy="342900"/>
          </a:xfrm>
          <a:prstGeom prst="rect">
            <a:avLst/>
          </a:prstGeom>
          <a:solidFill>
            <a:srgbClr val="0B4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6029" y="1542592"/>
            <a:ext cx="3144164" cy="3429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  <a:ea typeface="微软雅黑"/>
              </a:rPr>
              <a:t>快速排序</a:t>
            </a:r>
          </a:p>
        </p:txBody>
      </p:sp>
      <p:sp>
        <p:nvSpPr>
          <p:cNvPr id="26" name="Oval 25"/>
          <p:cNvSpPr/>
          <p:nvPr/>
        </p:nvSpPr>
        <p:spPr>
          <a:xfrm>
            <a:off x="8052663" y="2119579"/>
            <a:ext cx="66751" cy="66751"/>
          </a:xfrm>
          <a:prstGeom prst="ellipse">
            <a:avLst/>
          </a:prstGeom>
          <a:solidFill>
            <a:srgbClr val="0B4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00796" y="1961388"/>
            <a:ext cx="2924708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0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22F"/>
                </a:solidFill>
                <a:latin typeface="Microsoft YaHei"/>
                <a:ea typeface="微软雅黑"/>
              </a:rPr>
              <a:t>递归划分</a:t>
            </a:r>
          </a:p>
        </p:txBody>
      </p:sp>
      <p:sp>
        <p:nvSpPr>
          <p:cNvPr id="28" name="Oval 27"/>
          <p:cNvSpPr/>
          <p:nvPr/>
        </p:nvSpPr>
        <p:spPr>
          <a:xfrm>
            <a:off x="8052663" y="2503627"/>
            <a:ext cx="66751" cy="66751"/>
          </a:xfrm>
          <a:prstGeom prst="ellipse">
            <a:avLst/>
          </a:prstGeom>
          <a:solidFill>
            <a:srgbClr val="0B4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00796" y="2345436"/>
            <a:ext cx="2924708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0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22F"/>
                </a:solidFill>
                <a:latin typeface="Microsoft YaHei"/>
                <a:ea typeface="微软雅黑"/>
              </a:rPr>
              <a:t>不稳定</a:t>
            </a:r>
          </a:p>
        </p:txBody>
      </p:sp>
      <p:sp>
        <p:nvSpPr>
          <p:cNvPr id="30" name="Oval 29"/>
          <p:cNvSpPr/>
          <p:nvPr/>
        </p:nvSpPr>
        <p:spPr>
          <a:xfrm>
            <a:off x="8052663" y="2887675"/>
            <a:ext cx="66751" cy="66751"/>
          </a:xfrm>
          <a:prstGeom prst="ellipse">
            <a:avLst/>
          </a:prstGeom>
          <a:solidFill>
            <a:srgbClr val="0B4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00796" y="2729484"/>
            <a:ext cx="2924708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0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22F"/>
                </a:solidFill>
                <a:latin typeface="Microsoft YaHei"/>
                <a:ea typeface="微软雅黑"/>
              </a:rPr>
              <a:t>平均 O(n log n)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33087" y="3666744"/>
            <a:ext cx="7388352" cy="2523744"/>
          </a:xfrm>
          <a:prstGeom prst="roundRect">
            <a:avLst>
              <a:gd name="adj" fmla="val 3019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4224528"/>
            <a:ext cx="6858000" cy="330327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500" b="0">
                <a:solidFill>
                  <a:srgbClr val="18322F"/>
                </a:solidFill>
                <a:latin typeface="Microsoft YaHei"/>
                <a:ea typeface="微软雅黑"/>
              </a:rPr>
              <a:t>两者都是比较排序，差别在划分方式。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4628006"/>
            <a:ext cx="50292" cy="322326"/>
          </a:xfrm>
          <a:prstGeom prst="rect">
            <a:avLst/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0" y="4573143"/>
            <a:ext cx="6473952" cy="48691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2200" b="1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2200" b="1">
                <a:solidFill>
                  <a:srgbClr val="18322F"/>
                </a:solidFill>
                <a:latin typeface="Microsoft YaHei"/>
                <a:ea typeface="微软雅黑"/>
              </a:rPr>
              <a:t>快速排序用分治换取了更少的比较次数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5133213"/>
            <a:ext cx="6858000" cy="31318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4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400" b="0">
                <a:solidFill>
                  <a:srgbClr val="18322F"/>
                </a:solidFill>
                <a:latin typeface="Microsoft YaHei"/>
                <a:ea typeface="微软雅黑"/>
              </a:rPr>
              <a:t>• 冒泡稳定但慢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28816"/>
            <a:ext cx="10863072" cy="10972"/>
          </a:xfrm>
          <a:prstGeom prst="rect">
            <a:avLst/>
          </a:prstGeom>
          <a:solidFill>
            <a:srgbClr val="7889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47548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900" b="0">
                <a:solidFill>
                  <a:srgbClr val="788986"/>
                </a:solidFill>
                <a:latin typeface="Microsoft YaHei"/>
                <a:ea typeface="微软雅黑"/>
              </a:defRPr>
            </a:pPr>
            <a:r>
              <a:rPr sz="900" b="0">
                <a:solidFill>
                  <a:srgbClr val="788986"/>
                </a:solidFill>
                <a:latin typeface="Microsoft YaHei"/>
                <a:ea typeface="微软雅黑"/>
              </a:rPr>
              <a:t>多模态 AI 互动式教学智能体 · 教学课件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8096" cy="1060704"/>
          </a:xfrm>
          <a:prstGeom prst="rect">
            <a:avLst/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02336"/>
            <a:ext cx="95097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3200" b="1">
                <a:solidFill>
                  <a:srgbClr val="FFFFFF"/>
                </a:solidFill>
                <a:latin typeface="Microsoft YaHei"/>
                <a:ea typeface="微软雅黑"/>
              </a:rPr>
              <a:t>冒泡排序与快速排序（续 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402336"/>
            <a:ext cx="822960" cy="40233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微软雅黑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98448"/>
            <a:ext cx="3291840" cy="4892040"/>
          </a:xfrm>
          <a:prstGeom prst="roundRect">
            <a:avLst>
              <a:gd name="adj" fmla="val 2314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39"/>
            <a:ext cx="277977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0B4F49"/>
                </a:solidFill>
                <a:latin typeface="Microsoft YaHei"/>
                <a:ea typeface="微软雅黑"/>
              </a:defRPr>
            </a:pPr>
            <a:r>
              <a:rPr sz="1500" b="1">
                <a:solidFill>
                  <a:srgbClr val="0B4F49"/>
                </a:solidFill>
                <a:latin typeface="Microsoft YaHei"/>
                <a:ea typeface="微软雅黑"/>
              </a:rPr>
              <a:t>核心要点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" y="1920240"/>
            <a:ext cx="2798064" cy="424815"/>
          </a:xfrm>
          <a:prstGeom prst="roundRect">
            <a:avLst>
              <a:gd name="adj" fmla="val 17937"/>
            </a:avLst>
          </a:prstGeom>
          <a:solidFill>
            <a:srgbClr val="EAF4F1"/>
          </a:solidFill>
          <a:ln w="9525">
            <a:solidFill>
              <a:srgbClr val="DF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3" y="1920240"/>
            <a:ext cx="2578608" cy="424815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7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700" b="0">
                <a:solidFill>
                  <a:srgbClr val="18322F"/>
                </a:solidFill>
                <a:latin typeface="Microsoft YaHei"/>
                <a:ea typeface="微软雅黑"/>
              </a:rPr>
              <a:t>· 冒泡稳定但慢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" y="2440305"/>
            <a:ext cx="2798064" cy="424815"/>
          </a:xfrm>
          <a:prstGeom prst="roundRect">
            <a:avLst>
              <a:gd name="adj" fmla="val 17937"/>
            </a:avLst>
          </a:prstGeom>
          <a:solidFill>
            <a:srgbClr val="EAF4F1"/>
          </a:solidFill>
          <a:ln w="9525">
            <a:solidFill>
              <a:srgbClr val="DF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3" y="2440305"/>
            <a:ext cx="2578608" cy="424815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7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700" b="0">
                <a:solidFill>
                  <a:srgbClr val="18322F"/>
                </a:solidFill>
                <a:latin typeface="Microsoft YaHei"/>
                <a:ea typeface="微软雅黑"/>
              </a:rPr>
              <a:t>· 快速快但不稳定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33087" y="1298448"/>
            <a:ext cx="7388352" cy="4892040"/>
          </a:xfrm>
          <a:prstGeom prst="roundRect">
            <a:avLst>
              <a:gd name="adj" fmla="val 1557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856231"/>
            <a:ext cx="6858000" cy="31318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4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400" b="0">
                <a:solidFill>
                  <a:srgbClr val="18322F"/>
                </a:solidFill>
                <a:latin typeface="Microsoft YaHei"/>
                <a:ea typeface="微软雅黑"/>
              </a:rPr>
              <a:t>• 快速快但不稳定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28816"/>
            <a:ext cx="10863072" cy="10972"/>
          </a:xfrm>
          <a:prstGeom prst="rect">
            <a:avLst/>
          </a:prstGeom>
          <a:solidFill>
            <a:srgbClr val="7889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47548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900" b="0">
                <a:solidFill>
                  <a:srgbClr val="788986"/>
                </a:solidFill>
                <a:latin typeface="Microsoft YaHei"/>
                <a:ea typeface="微软雅黑"/>
              </a:defRPr>
            </a:pPr>
            <a:r>
              <a:rPr sz="900" b="0">
                <a:solidFill>
                  <a:srgbClr val="788986"/>
                </a:solidFill>
                <a:latin typeface="Microsoft YaHei"/>
                <a:ea typeface="微软雅黑"/>
              </a:rPr>
              <a:t>多模态 AI 互动式教学智能体 · 教学课件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8096" cy="1060704"/>
          </a:xfrm>
          <a:prstGeom prst="rect">
            <a:avLst/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02336"/>
            <a:ext cx="95097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3200" b="1">
                <a:solidFill>
                  <a:srgbClr val="FFFFFF"/>
                </a:solidFill>
                <a:latin typeface="Microsoft YaHei"/>
                <a:ea typeface="微软雅黑"/>
              </a:rPr>
              <a:t>模型训练的反馈循环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402336"/>
            <a:ext cx="822960" cy="40233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微软雅黑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98448"/>
            <a:ext cx="3291840" cy="4892040"/>
          </a:xfrm>
          <a:prstGeom prst="roundRect">
            <a:avLst>
              <a:gd name="adj" fmla="val 2314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39"/>
            <a:ext cx="277977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0B4F49"/>
                </a:solidFill>
                <a:latin typeface="Microsoft YaHei"/>
                <a:ea typeface="微软雅黑"/>
              </a:defRPr>
            </a:pPr>
            <a:r>
              <a:rPr sz="1500" b="1">
                <a:solidFill>
                  <a:srgbClr val="0B4F49"/>
                </a:solidFill>
                <a:latin typeface="Microsoft YaHei"/>
                <a:ea typeface="微软雅黑"/>
              </a:rPr>
              <a:t>核心要点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" y="1920240"/>
            <a:ext cx="2798064" cy="424815"/>
          </a:xfrm>
          <a:prstGeom prst="roundRect">
            <a:avLst>
              <a:gd name="adj" fmla="val 17937"/>
            </a:avLst>
          </a:prstGeom>
          <a:solidFill>
            <a:srgbClr val="EAF4F1"/>
          </a:solidFill>
          <a:ln w="9525">
            <a:solidFill>
              <a:srgbClr val="DF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3" y="1920240"/>
            <a:ext cx="2578608" cy="424815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7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700" b="0">
                <a:solidFill>
                  <a:srgbClr val="18322F"/>
                </a:solidFill>
                <a:latin typeface="Microsoft YaHei"/>
                <a:ea typeface="微软雅黑"/>
              </a:rPr>
              <a:t>· 训练由评估驱动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" y="2440305"/>
            <a:ext cx="2798064" cy="424815"/>
          </a:xfrm>
          <a:prstGeom prst="roundRect">
            <a:avLst>
              <a:gd name="adj" fmla="val 17937"/>
            </a:avLst>
          </a:prstGeom>
          <a:solidFill>
            <a:srgbClr val="EAF4F1"/>
          </a:solidFill>
          <a:ln w="9525">
            <a:solidFill>
              <a:srgbClr val="DF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3" y="2440305"/>
            <a:ext cx="2578608" cy="424815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7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700" b="0">
                <a:solidFill>
                  <a:srgbClr val="18322F"/>
                </a:solidFill>
                <a:latin typeface="Microsoft YaHei"/>
                <a:ea typeface="微软雅黑"/>
              </a:rPr>
              <a:t>· 参数随反馈调整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33087" y="1298448"/>
            <a:ext cx="7388352" cy="2240280"/>
          </a:xfrm>
          <a:prstGeom prst="roundRect">
            <a:avLst>
              <a:gd name="adj" fmla="val 3401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60314" y="1894865"/>
            <a:ext cx="5334812" cy="1200150"/>
          </a:xfrm>
          <a:prstGeom prst="ellipse">
            <a:avLst/>
          </a:prstGeom>
          <a:noFill/>
          <a:ln w="19050">
            <a:solidFill>
              <a:srgbClr val="78898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95515" y="1637690"/>
            <a:ext cx="1264412" cy="514350"/>
          </a:xfrm>
          <a:prstGeom prst="roundRect">
            <a:avLst>
              <a:gd name="adj" fmla="val 14814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8667" y="1637690"/>
            <a:ext cx="1118108" cy="51435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9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900" b="0">
                <a:solidFill>
                  <a:srgbClr val="18322F"/>
                </a:solidFill>
                <a:latin typeface="Microsoft YaHei"/>
                <a:ea typeface="微软雅黑"/>
              </a:rPr>
              <a:t>采集样本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62921" y="2237765"/>
            <a:ext cx="1264412" cy="514350"/>
          </a:xfrm>
          <a:prstGeom prst="roundRect">
            <a:avLst>
              <a:gd name="adj" fmla="val 14814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36073" y="2237765"/>
            <a:ext cx="1118108" cy="51435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9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900" b="0">
                <a:solidFill>
                  <a:srgbClr val="18322F"/>
                </a:solidFill>
                <a:latin typeface="Microsoft YaHei"/>
                <a:ea typeface="微软雅黑"/>
              </a:rPr>
              <a:t>训练模型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95515" y="2837840"/>
            <a:ext cx="1264412" cy="514350"/>
          </a:xfrm>
          <a:prstGeom prst="roundRect">
            <a:avLst>
              <a:gd name="adj" fmla="val 14814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8667" y="2837840"/>
            <a:ext cx="1118108" cy="51435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9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900" b="0">
                <a:solidFill>
                  <a:srgbClr val="18322F"/>
                </a:solidFill>
                <a:latin typeface="Microsoft YaHei"/>
                <a:ea typeface="微软雅黑"/>
              </a:rPr>
              <a:t>评估效果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8108" y="2237765"/>
            <a:ext cx="1264412" cy="514350"/>
          </a:xfrm>
          <a:prstGeom prst="roundRect">
            <a:avLst>
              <a:gd name="adj" fmla="val 14814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01260" y="2237765"/>
            <a:ext cx="1118108" cy="51435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9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900" b="0">
                <a:solidFill>
                  <a:srgbClr val="18322F"/>
                </a:solidFill>
                <a:latin typeface="Microsoft YaHei"/>
                <a:ea typeface="微软雅黑"/>
              </a:rPr>
              <a:t>调整参数</a:t>
            </a:r>
          </a:p>
        </p:txBody>
      </p:sp>
      <p:sp>
        <p:nvSpPr>
          <p:cNvPr id="23" name="Isosceles Triangle 22"/>
          <p:cNvSpPr/>
          <p:nvPr/>
        </p:nvSpPr>
        <p:spPr>
          <a:xfrm rot="6160711">
            <a:off x="9661284" y="2018045"/>
            <a:ext cx="105156" cy="105156"/>
          </a:xfrm>
          <a:prstGeom prst="triangle">
            <a:avLst/>
          </a:prstGeom>
          <a:solidFill>
            <a:srgbClr val="0B4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 rot="15439289">
            <a:off x="9661284" y="2866679"/>
            <a:ext cx="105156" cy="105156"/>
          </a:xfrm>
          <a:prstGeom prst="triangle">
            <a:avLst/>
          </a:prstGeom>
          <a:solidFill>
            <a:srgbClr val="0B4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 rot="16960711">
            <a:off x="5889002" y="2866679"/>
            <a:ext cx="105156" cy="105156"/>
          </a:xfrm>
          <a:prstGeom prst="triangle">
            <a:avLst/>
          </a:prstGeom>
          <a:solidFill>
            <a:srgbClr val="0B4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 rot="4639289">
            <a:off x="5889002" y="2018045"/>
            <a:ext cx="105156" cy="105156"/>
          </a:xfrm>
          <a:prstGeom prst="triangle">
            <a:avLst/>
          </a:prstGeom>
          <a:solidFill>
            <a:srgbClr val="0B4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133087" y="3666744"/>
            <a:ext cx="7388352" cy="2523744"/>
          </a:xfrm>
          <a:prstGeom prst="roundRect">
            <a:avLst>
              <a:gd name="adj" fmla="val 3019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4224528"/>
            <a:ext cx="6858000" cy="330327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500" b="0">
                <a:solidFill>
                  <a:srgbClr val="18322F"/>
                </a:solidFill>
                <a:latin typeface="Microsoft YaHei"/>
                <a:ea typeface="微软雅黑"/>
              </a:rPr>
              <a:t>每一轮训练都由上一轮的评估结果驱动。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0" y="4628006"/>
            <a:ext cx="50292" cy="322326"/>
          </a:xfrm>
          <a:prstGeom prst="rect">
            <a:avLst/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4573143"/>
            <a:ext cx="6473952" cy="48691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2200" b="1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2200" b="1">
                <a:solidFill>
                  <a:srgbClr val="18322F"/>
                </a:solidFill>
                <a:latin typeface="Microsoft YaHei"/>
                <a:ea typeface="微软雅黑"/>
              </a:rPr>
              <a:t>训练不是一次性的，是评估驱动的闭环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5133213"/>
            <a:ext cx="6858000" cy="31318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4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400" b="0">
                <a:solidFill>
                  <a:srgbClr val="18322F"/>
                </a:solidFill>
                <a:latin typeface="Microsoft YaHei"/>
                <a:ea typeface="微软雅黑"/>
              </a:rPr>
              <a:t>• 训练由评估驱动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28816"/>
            <a:ext cx="10863072" cy="10972"/>
          </a:xfrm>
          <a:prstGeom prst="rect">
            <a:avLst/>
          </a:prstGeom>
          <a:solidFill>
            <a:srgbClr val="7889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47548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900" b="0">
                <a:solidFill>
                  <a:srgbClr val="788986"/>
                </a:solidFill>
                <a:latin typeface="Microsoft YaHei"/>
                <a:ea typeface="微软雅黑"/>
              </a:defRPr>
            </a:pPr>
            <a:r>
              <a:rPr sz="900" b="0">
                <a:solidFill>
                  <a:srgbClr val="788986"/>
                </a:solidFill>
                <a:latin typeface="Microsoft YaHei"/>
                <a:ea typeface="微软雅黑"/>
              </a:rPr>
              <a:t>多模态 AI 互动式教学智能体 · 教学课件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8096" cy="1060704"/>
          </a:xfrm>
          <a:prstGeom prst="rect">
            <a:avLst/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02336"/>
            <a:ext cx="95097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3200" b="1">
                <a:solidFill>
                  <a:srgbClr val="FFFFFF"/>
                </a:solidFill>
                <a:latin typeface="Microsoft YaHei"/>
                <a:ea typeface="微软雅黑"/>
              </a:rPr>
              <a:t>模型训练的反馈循环（续 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402336"/>
            <a:ext cx="822960" cy="40233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微软雅黑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98448"/>
            <a:ext cx="3291840" cy="4892040"/>
          </a:xfrm>
          <a:prstGeom prst="roundRect">
            <a:avLst>
              <a:gd name="adj" fmla="val 2314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39"/>
            <a:ext cx="277977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0B4F49"/>
                </a:solidFill>
                <a:latin typeface="Microsoft YaHei"/>
                <a:ea typeface="微软雅黑"/>
              </a:defRPr>
            </a:pPr>
            <a:r>
              <a:rPr sz="1500" b="1">
                <a:solidFill>
                  <a:srgbClr val="0B4F49"/>
                </a:solidFill>
                <a:latin typeface="Microsoft YaHei"/>
                <a:ea typeface="微软雅黑"/>
              </a:rPr>
              <a:t>核心要点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" y="1920240"/>
            <a:ext cx="2798064" cy="424815"/>
          </a:xfrm>
          <a:prstGeom prst="roundRect">
            <a:avLst>
              <a:gd name="adj" fmla="val 17937"/>
            </a:avLst>
          </a:prstGeom>
          <a:solidFill>
            <a:srgbClr val="EAF4F1"/>
          </a:solidFill>
          <a:ln w="9525">
            <a:solidFill>
              <a:srgbClr val="DF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3" y="1920240"/>
            <a:ext cx="2578608" cy="424815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7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700" b="0">
                <a:solidFill>
                  <a:srgbClr val="18322F"/>
                </a:solidFill>
                <a:latin typeface="Microsoft YaHei"/>
                <a:ea typeface="微软雅黑"/>
              </a:rPr>
              <a:t>· 训练由评估驱动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" y="2440305"/>
            <a:ext cx="2798064" cy="424815"/>
          </a:xfrm>
          <a:prstGeom prst="roundRect">
            <a:avLst>
              <a:gd name="adj" fmla="val 17937"/>
            </a:avLst>
          </a:prstGeom>
          <a:solidFill>
            <a:srgbClr val="EAF4F1"/>
          </a:solidFill>
          <a:ln w="9525">
            <a:solidFill>
              <a:srgbClr val="DF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3" y="2440305"/>
            <a:ext cx="2578608" cy="424815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7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700" b="0">
                <a:solidFill>
                  <a:srgbClr val="18322F"/>
                </a:solidFill>
                <a:latin typeface="Microsoft YaHei"/>
                <a:ea typeface="微软雅黑"/>
              </a:rPr>
              <a:t>· 参数随反馈调整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33087" y="1298448"/>
            <a:ext cx="7388352" cy="4892040"/>
          </a:xfrm>
          <a:prstGeom prst="roundRect">
            <a:avLst>
              <a:gd name="adj" fmla="val 1557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856231"/>
            <a:ext cx="6858000" cy="31318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4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400" b="0">
                <a:solidFill>
                  <a:srgbClr val="18322F"/>
                </a:solidFill>
                <a:latin typeface="Microsoft YaHei"/>
                <a:ea typeface="微软雅黑"/>
              </a:rPr>
              <a:t>• 参数随反馈调整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28816"/>
            <a:ext cx="10863072" cy="10972"/>
          </a:xfrm>
          <a:prstGeom prst="rect">
            <a:avLst/>
          </a:prstGeom>
          <a:solidFill>
            <a:srgbClr val="7889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47548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900" b="0">
                <a:solidFill>
                  <a:srgbClr val="788986"/>
                </a:solidFill>
                <a:latin typeface="Microsoft YaHei"/>
                <a:ea typeface="微软雅黑"/>
              </a:defRPr>
            </a:pPr>
            <a:r>
              <a:rPr sz="900" b="0">
                <a:solidFill>
                  <a:srgbClr val="788986"/>
                </a:solidFill>
                <a:latin typeface="Microsoft YaHei"/>
                <a:ea typeface="微软雅黑"/>
              </a:rPr>
              <a:t>多模态 AI 互动式教学智能体 · 教学课件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8096" cy="1060704"/>
          </a:xfrm>
          <a:prstGeom prst="rect">
            <a:avLst/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02336"/>
            <a:ext cx="95097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3200" b="1">
                <a:solidFill>
                  <a:srgbClr val="FFFFFF"/>
                </a:solidFill>
                <a:latin typeface="Microsoft YaHei"/>
                <a:ea typeface="微软雅黑"/>
              </a:rPr>
              <a:t>排序算法的分类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402336"/>
            <a:ext cx="822960" cy="40233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微软雅黑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98448"/>
            <a:ext cx="3291840" cy="4892040"/>
          </a:xfrm>
          <a:prstGeom prst="roundRect">
            <a:avLst>
              <a:gd name="adj" fmla="val 2314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39"/>
            <a:ext cx="277977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0B4F49"/>
                </a:solidFill>
                <a:latin typeface="Microsoft YaHei"/>
                <a:ea typeface="微软雅黑"/>
              </a:defRPr>
            </a:pPr>
            <a:r>
              <a:rPr sz="1500" b="1">
                <a:solidFill>
                  <a:srgbClr val="0B4F49"/>
                </a:solidFill>
                <a:latin typeface="Microsoft YaHei"/>
                <a:ea typeface="微软雅黑"/>
              </a:rPr>
              <a:t>核心要点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" y="1920240"/>
            <a:ext cx="2798064" cy="424815"/>
          </a:xfrm>
          <a:prstGeom prst="roundRect">
            <a:avLst>
              <a:gd name="adj" fmla="val 17937"/>
            </a:avLst>
          </a:prstGeom>
          <a:solidFill>
            <a:srgbClr val="EAF4F1"/>
          </a:solidFill>
          <a:ln w="9525">
            <a:solidFill>
              <a:srgbClr val="DF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3" y="1920240"/>
            <a:ext cx="2578608" cy="424815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7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700" b="0">
                <a:solidFill>
                  <a:srgbClr val="18322F"/>
                </a:solidFill>
                <a:latin typeface="Microsoft YaHei"/>
                <a:ea typeface="微软雅黑"/>
              </a:rPr>
              <a:t>· 先看是否原地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" y="2440305"/>
            <a:ext cx="2798064" cy="424815"/>
          </a:xfrm>
          <a:prstGeom prst="roundRect">
            <a:avLst>
              <a:gd name="adj" fmla="val 17937"/>
            </a:avLst>
          </a:prstGeom>
          <a:solidFill>
            <a:srgbClr val="EAF4F1"/>
          </a:solidFill>
          <a:ln w="9525">
            <a:solidFill>
              <a:srgbClr val="DF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3" y="2440305"/>
            <a:ext cx="2578608" cy="424815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7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700" b="0">
                <a:solidFill>
                  <a:srgbClr val="18322F"/>
                </a:solidFill>
                <a:latin typeface="Microsoft YaHei"/>
                <a:ea typeface="微软雅黑"/>
              </a:rPr>
              <a:t>· 再看是否稳定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33087" y="1298448"/>
            <a:ext cx="7388352" cy="2240280"/>
          </a:xfrm>
          <a:prstGeom prst="roundRect">
            <a:avLst>
              <a:gd name="adj" fmla="val 3401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5400000">
            <a:off x="7641640" y="2152954"/>
            <a:ext cx="372160" cy="27432"/>
          </a:xfrm>
          <a:prstGeom prst="rect">
            <a:avLst/>
          </a:prstGeom>
          <a:solidFill>
            <a:srgbClr val="7889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00878" y="2339035"/>
            <a:ext cx="4653686" cy="27432"/>
          </a:xfrm>
          <a:prstGeom prst="rect">
            <a:avLst/>
          </a:prstGeom>
          <a:solidFill>
            <a:srgbClr val="7889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5400000">
            <a:off x="5314797" y="2525115"/>
            <a:ext cx="372160" cy="27432"/>
          </a:xfrm>
          <a:prstGeom prst="rect">
            <a:avLst/>
          </a:prstGeom>
          <a:solidFill>
            <a:srgbClr val="7889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5400000">
            <a:off x="7641640" y="2525115"/>
            <a:ext cx="372160" cy="27432"/>
          </a:xfrm>
          <a:prstGeom prst="rect">
            <a:avLst/>
          </a:prstGeom>
          <a:solidFill>
            <a:srgbClr val="7889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5400000">
            <a:off x="9968484" y="2525115"/>
            <a:ext cx="372160" cy="27432"/>
          </a:xfrm>
          <a:prstGeom prst="rect">
            <a:avLst/>
          </a:prstGeom>
          <a:solidFill>
            <a:srgbClr val="7889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92697" y="1542592"/>
            <a:ext cx="2670048" cy="437997"/>
          </a:xfrm>
          <a:prstGeom prst="roundRect">
            <a:avLst>
              <a:gd name="adj" fmla="val 17397"/>
            </a:avLst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4137" y="1542592"/>
            <a:ext cx="2487168" cy="437997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  <a:ea typeface="微软雅黑"/>
              </a:rPr>
              <a:t>排序算法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13808" y="2724912"/>
            <a:ext cx="2174138" cy="722376"/>
          </a:xfrm>
          <a:prstGeom prst="roundRect">
            <a:avLst>
              <a:gd name="adj" fmla="val 10548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6960" y="2724912"/>
            <a:ext cx="2027834" cy="72237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9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900" b="0">
                <a:solidFill>
                  <a:srgbClr val="18322F"/>
                </a:solidFill>
                <a:latin typeface="Microsoft YaHei"/>
                <a:ea typeface="微软雅黑"/>
              </a:rPr>
              <a:t>冒泡排序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40651" y="2724912"/>
            <a:ext cx="2174138" cy="722376"/>
          </a:xfrm>
          <a:prstGeom prst="roundRect">
            <a:avLst>
              <a:gd name="adj" fmla="val 10548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3804" y="2724912"/>
            <a:ext cx="2027834" cy="72237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9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900" b="0">
                <a:solidFill>
                  <a:srgbClr val="18322F"/>
                </a:solidFill>
                <a:latin typeface="Microsoft YaHei"/>
                <a:ea typeface="微软雅黑"/>
              </a:rPr>
              <a:t>快速排序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7495" y="2724912"/>
            <a:ext cx="2174138" cy="722376"/>
          </a:xfrm>
          <a:prstGeom prst="roundRect">
            <a:avLst>
              <a:gd name="adj" fmla="val 10548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0647" y="2724912"/>
            <a:ext cx="2027834" cy="72237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9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900" b="0">
                <a:solidFill>
                  <a:srgbClr val="18322F"/>
                </a:solidFill>
                <a:latin typeface="Microsoft YaHei"/>
                <a:ea typeface="微软雅黑"/>
              </a:rPr>
              <a:t>归并排序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33087" y="3666744"/>
            <a:ext cx="7388352" cy="2523744"/>
          </a:xfrm>
          <a:prstGeom prst="roundRect">
            <a:avLst>
              <a:gd name="adj" fmla="val 3019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4224528"/>
            <a:ext cx="6858000" cy="330327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500" b="0">
                <a:solidFill>
                  <a:srgbClr val="18322F"/>
                </a:solidFill>
                <a:latin typeface="Microsoft YaHei"/>
                <a:ea typeface="微软雅黑"/>
              </a:rPr>
              <a:t>按是否借助额外存储空间划分。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0" y="4628006"/>
            <a:ext cx="50292" cy="322326"/>
          </a:xfrm>
          <a:prstGeom prst="rect">
            <a:avLst/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4573143"/>
            <a:ext cx="6473952" cy="48691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2200" b="1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2200" b="1">
                <a:solidFill>
                  <a:srgbClr val="18322F"/>
                </a:solidFill>
                <a:latin typeface="Microsoft YaHei"/>
                <a:ea typeface="微软雅黑"/>
              </a:rPr>
              <a:t>先分清大类，再记具体算法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5133213"/>
            <a:ext cx="6858000" cy="31318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4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400" b="0">
                <a:solidFill>
                  <a:srgbClr val="18322F"/>
                </a:solidFill>
                <a:latin typeface="Microsoft YaHei"/>
                <a:ea typeface="微软雅黑"/>
              </a:rPr>
              <a:t>• 先看是否原地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28816"/>
            <a:ext cx="10863072" cy="10972"/>
          </a:xfrm>
          <a:prstGeom prst="rect">
            <a:avLst/>
          </a:prstGeom>
          <a:solidFill>
            <a:srgbClr val="7889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47548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900" b="0">
                <a:solidFill>
                  <a:srgbClr val="788986"/>
                </a:solidFill>
                <a:latin typeface="Microsoft YaHei"/>
                <a:ea typeface="微软雅黑"/>
              </a:defRPr>
            </a:pPr>
            <a:r>
              <a:rPr sz="900" b="0">
                <a:solidFill>
                  <a:srgbClr val="788986"/>
                </a:solidFill>
                <a:latin typeface="Microsoft YaHei"/>
                <a:ea typeface="微软雅黑"/>
              </a:rPr>
              <a:t>多模态 AI 互动式教学智能体 · 教学课件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8096" cy="1060704"/>
          </a:xfrm>
          <a:prstGeom prst="rect">
            <a:avLst/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02336"/>
            <a:ext cx="95097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3200" b="1">
                <a:solidFill>
                  <a:srgbClr val="FFFFFF"/>
                </a:solidFill>
                <a:latin typeface="Microsoft YaHei"/>
                <a:ea typeface="微软雅黑"/>
              </a:rPr>
              <a:t>排序算法的分类（续 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402336"/>
            <a:ext cx="822960" cy="40233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微软雅黑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98448"/>
            <a:ext cx="3291840" cy="4892040"/>
          </a:xfrm>
          <a:prstGeom prst="roundRect">
            <a:avLst>
              <a:gd name="adj" fmla="val 2314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39"/>
            <a:ext cx="277977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0B4F49"/>
                </a:solidFill>
                <a:latin typeface="Microsoft YaHei"/>
                <a:ea typeface="微软雅黑"/>
              </a:defRPr>
            </a:pPr>
            <a:r>
              <a:rPr sz="1500" b="1">
                <a:solidFill>
                  <a:srgbClr val="0B4F49"/>
                </a:solidFill>
                <a:latin typeface="Microsoft YaHei"/>
                <a:ea typeface="微软雅黑"/>
              </a:rPr>
              <a:t>核心要点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" y="1920240"/>
            <a:ext cx="2798064" cy="424815"/>
          </a:xfrm>
          <a:prstGeom prst="roundRect">
            <a:avLst>
              <a:gd name="adj" fmla="val 17937"/>
            </a:avLst>
          </a:prstGeom>
          <a:solidFill>
            <a:srgbClr val="EAF4F1"/>
          </a:solidFill>
          <a:ln w="9525">
            <a:solidFill>
              <a:srgbClr val="DF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3" y="1920240"/>
            <a:ext cx="2578608" cy="424815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7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700" b="0">
                <a:solidFill>
                  <a:srgbClr val="18322F"/>
                </a:solidFill>
                <a:latin typeface="Microsoft YaHei"/>
                <a:ea typeface="微软雅黑"/>
              </a:rPr>
              <a:t>· 先看是否原地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" y="2440305"/>
            <a:ext cx="2798064" cy="424815"/>
          </a:xfrm>
          <a:prstGeom prst="roundRect">
            <a:avLst>
              <a:gd name="adj" fmla="val 17937"/>
            </a:avLst>
          </a:prstGeom>
          <a:solidFill>
            <a:srgbClr val="EAF4F1"/>
          </a:solidFill>
          <a:ln w="9525">
            <a:solidFill>
              <a:srgbClr val="DF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3" y="2440305"/>
            <a:ext cx="2578608" cy="424815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7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700" b="0">
                <a:solidFill>
                  <a:srgbClr val="18322F"/>
                </a:solidFill>
                <a:latin typeface="Microsoft YaHei"/>
                <a:ea typeface="微软雅黑"/>
              </a:rPr>
              <a:t>· 再看是否稳定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33087" y="1298448"/>
            <a:ext cx="7388352" cy="4892040"/>
          </a:xfrm>
          <a:prstGeom prst="roundRect">
            <a:avLst>
              <a:gd name="adj" fmla="val 1557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856231"/>
            <a:ext cx="6858000" cy="31318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4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400" b="0">
                <a:solidFill>
                  <a:srgbClr val="18322F"/>
                </a:solidFill>
                <a:latin typeface="Microsoft YaHei"/>
                <a:ea typeface="微软雅黑"/>
              </a:rPr>
              <a:t>• 再看是否稳定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28816"/>
            <a:ext cx="10863072" cy="10972"/>
          </a:xfrm>
          <a:prstGeom prst="rect">
            <a:avLst/>
          </a:prstGeom>
          <a:solidFill>
            <a:srgbClr val="7889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47548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900" b="0">
                <a:solidFill>
                  <a:srgbClr val="788986"/>
                </a:solidFill>
                <a:latin typeface="Microsoft YaHei"/>
                <a:ea typeface="微软雅黑"/>
              </a:defRPr>
            </a:pPr>
            <a:r>
              <a:rPr sz="900" b="0">
                <a:solidFill>
                  <a:srgbClr val="788986"/>
                </a:solidFill>
                <a:latin typeface="Microsoft YaHei"/>
                <a:ea typeface="微软雅黑"/>
              </a:rPr>
              <a:t>多模态 AI 互动式教学智能体 · 教学课件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8096" cy="1060704"/>
          </a:xfrm>
          <a:prstGeom prst="rect">
            <a:avLst/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02336"/>
            <a:ext cx="95097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3200" b="1">
                <a:solidFill>
                  <a:srgbClr val="FFFFFF"/>
                </a:solidFill>
                <a:latin typeface="Microsoft YaHei"/>
                <a:ea typeface="微软雅黑"/>
              </a:rPr>
              <a:t>快速排序递归深度随规模的增长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402336"/>
            <a:ext cx="822960" cy="40233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微软雅黑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98448"/>
            <a:ext cx="3291840" cy="4892040"/>
          </a:xfrm>
          <a:prstGeom prst="roundRect">
            <a:avLst>
              <a:gd name="adj" fmla="val 2314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39"/>
            <a:ext cx="277977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0B4F49"/>
                </a:solidFill>
                <a:latin typeface="Microsoft YaHei"/>
                <a:ea typeface="微软雅黑"/>
              </a:defRPr>
            </a:pPr>
            <a:r>
              <a:rPr sz="1500" b="1">
                <a:solidFill>
                  <a:srgbClr val="0B4F49"/>
                </a:solidFill>
                <a:latin typeface="Microsoft YaHei"/>
                <a:ea typeface="微软雅黑"/>
              </a:rPr>
              <a:t>核心要点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" y="1920240"/>
            <a:ext cx="2798064" cy="424815"/>
          </a:xfrm>
          <a:prstGeom prst="roundRect">
            <a:avLst>
              <a:gd name="adj" fmla="val 17937"/>
            </a:avLst>
          </a:prstGeom>
          <a:solidFill>
            <a:srgbClr val="EAF4F1"/>
          </a:solidFill>
          <a:ln w="9525">
            <a:solidFill>
              <a:srgbClr val="DF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3" y="1920240"/>
            <a:ext cx="2578608" cy="424815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7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700" b="0">
                <a:solidFill>
                  <a:srgbClr val="18322F"/>
                </a:solidFill>
                <a:latin typeface="Microsoft YaHei"/>
                <a:ea typeface="微软雅黑"/>
              </a:rPr>
              <a:t>· 对数增长很慢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" y="2440305"/>
            <a:ext cx="2798064" cy="424815"/>
          </a:xfrm>
          <a:prstGeom prst="roundRect">
            <a:avLst>
              <a:gd name="adj" fmla="val 17937"/>
            </a:avLst>
          </a:prstGeom>
          <a:solidFill>
            <a:srgbClr val="EAF4F1"/>
          </a:solidFill>
          <a:ln w="9525">
            <a:solidFill>
              <a:srgbClr val="DF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3" y="2440305"/>
            <a:ext cx="2578608" cy="424815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7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700" b="0">
                <a:solidFill>
                  <a:srgbClr val="18322F"/>
                </a:solidFill>
                <a:latin typeface="Microsoft YaHei"/>
                <a:ea typeface="微软雅黑"/>
              </a:rPr>
              <a:t>· 规模翻倍只多一层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33087" y="1298448"/>
            <a:ext cx="7388352" cy="2240280"/>
          </a:xfrm>
          <a:prstGeom prst="roundRect">
            <a:avLst>
              <a:gd name="adj" fmla="val 3401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3808" y="1542592"/>
            <a:ext cx="2048347" cy="476173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r">
              <a:defRPr sz="9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900" b="0">
                <a:solidFill>
                  <a:srgbClr val="18322F"/>
                </a:solidFill>
                <a:latin typeface="Microsoft YaHei"/>
                <a:ea typeface="微软雅黑"/>
              </a:rPr>
              <a:t>100 个元素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57253" y="1656778"/>
            <a:ext cx="4112879" cy="247802"/>
          </a:xfrm>
          <a:prstGeom prst="roundRect">
            <a:avLst>
              <a:gd name="adj" fmla="val 30750"/>
            </a:avLst>
          </a:prstGeom>
          <a:solidFill>
            <a:srgbClr val="D9E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57253" y="1656778"/>
            <a:ext cx="1693538" cy="247802"/>
          </a:xfrm>
          <a:prstGeom prst="roundRect">
            <a:avLst>
              <a:gd name="adj" fmla="val 30750"/>
            </a:avLst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24997" y="1542592"/>
            <a:ext cx="571500" cy="476173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900" b="1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900" b="1">
                <a:solidFill>
                  <a:srgbClr val="18322F"/>
                </a:solidFill>
                <a:latin typeface="Microsoft YaHei"/>
                <a:ea typeface="微软雅黑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3808" y="2018766"/>
            <a:ext cx="2048347" cy="476173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r">
              <a:defRPr sz="9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900" b="0">
                <a:solidFill>
                  <a:srgbClr val="18322F"/>
                </a:solidFill>
                <a:latin typeface="Microsoft YaHei"/>
                <a:ea typeface="微软雅黑"/>
              </a:rPr>
              <a:t>1000 个元素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57253" y="2132952"/>
            <a:ext cx="4112879" cy="247802"/>
          </a:xfrm>
          <a:prstGeom prst="roundRect">
            <a:avLst>
              <a:gd name="adj" fmla="val 30750"/>
            </a:avLst>
          </a:prstGeom>
          <a:solidFill>
            <a:srgbClr val="D9E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57253" y="2132952"/>
            <a:ext cx="2419341" cy="247802"/>
          </a:xfrm>
          <a:prstGeom prst="roundRect">
            <a:avLst>
              <a:gd name="adj" fmla="val 30750"/>
            </a:avLst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24997" y="2018766"/>
            <a:ext cx="571500" cy="476173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900" b="1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900" b="1">
                <a:solidFill>
                  <a:srgbClr val="18322F"/>
                </a:solidFill>
                <a:latin typeface="Microsoft YaHei"/>
                <a:ea typeface="微软雅黑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3808" y="2494940"/>
            <a:ext cx="2048347" cy="476173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r">
              <a:defRPr sz="9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900" b="0">
                <a:solidFill>
                  <a:srgbClr val="18322F"/>
                </a:solidFill>
                <a:latin typeface="Microsoft YaHei"/>
                <a:ea typeface="微软雅黑"/>
              </a:rPr>
              <a:t>10000 个元素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57253" y="2609126"/>
            <a:ext cx="4112879" cy="247802"/>
          </a:xfrm>
          <a:prstGeom prst="roundRect">
            <a:avLst>
              <a:gd name="adj" fmla="val 30750"/>
            </a:avLst>
          </a:prstGeom>
          <a:solidFill>
            <a:srgbClr val="D9E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57253" y="2609126"/>
            <a:ext cx="3387077" cy="247802"/>
          </a:xfrm>
          <a:prstGeom prst="roundRect">
            <a:avLst>
              <a:gd name="adj" fmla="val 30750"/>
            </a:avLst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24997" y="2494940"/>
            <a:ext cx="571500" cy="476173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900" b="1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900" b="1">
                <a:solidFill>
                  <a:srgbClr val="18322F"/>
                </a:solidFill>
                <a:latin typeface="Microsoft YaHei"/>
                <a:ea typeface="微软雅黑"/>
              </a:rPr>
              <a:t>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3808" y="2971114"/>
            <a:ext cx="2048347" cy="476173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r">
              <a:defRPr sz="9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900" b="0">
                <a:solidFill>
                  <a:srgbClr val="18322F"/>
                </a:solidFill>
                <a:latin typeface="Microsoft YaHei"/>
                <a:ea typeface="微软雅黑"/>
              </a:rPr>
              <a:t>100000 个元素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57253" y="3085299"/>
            <a:ext cx="4112879" cy="247802"/>
          </a:xfrm>
          <a:prstGeom prst="roundRect">
            <a:avLst>
              <a:gd name="adj" fmla="val 30750"/>
            </a:avLst>
          </a:prstGeom>
          <a:solidFill>
            <a:srgbClr val="D9E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57253" y="3085299"/>
            <a:ext cx="4112879" cy="247802"/>
          </a:xfrm>
          <a:prstGeom prst="roundRect">
            <a:avLst>
              <a:gd name="adj" fmla="val 30750"/>
            </a:avLst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24997" y="2971114"/>
            <a:ext cx="571500" cy="476173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900" b="1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900" b="1">
                <a:solidFill>
                  <a:srgbClr val="18322F"/>
                </a:solidFill>
                <a:latin typeface="Microsoft YaHei"/>
                <a:ea typeface="微软雅黑"/>
              </a:rPr>
              <a:t>17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33087" y="3666744"/>
            <a:ext cx="7388352" cy="2523744"/>
          </a:xfrm>
          <a:prstGeom prst="roundRect">
            <a:avLst>
              <a:gd name="adj" fmla="val 3019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4224528"/>
            <a:ext cx="6858000" cy="330327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500" b="0">
                <a:solidFill>
                  <a:srgbClr val="18322F"/>
                </a:solidFill>
                <a:latin typeface="Microsoft YaHei"/>
                <a:ea typeface="微软雅黑"/>
              </a:rPr>
              <a:t>规模扩大 100 倍，递归深度只多了 7 层。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4628006"/>
            <a:ext cx="50292" cy="322326"/>
          </a:xfrm>
          <a:prstGeom prst="rect">
            <a:avLst/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4573143"/>
            <a:ext cx="6473952" cy="48691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2200" b="1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2200" b="1">
                <a:solidFill>
                  <a:srgbClr val="18322F"/>
                </a:solidFill>
                <a:latin typeface="Microsoft YaHei"/>
                <a:ea typeface="微软雅黑"/>
              </a:rPr>
              <a:t>对数增长：规模翻倍，深度只多一层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5133213"/>
            <a:ext cx="6858000" cy="31318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4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400" b="0">
                <a:solidFill>
                  <a:srgbClr val="18322F"/>
                </a:solidFill>
                <a:latin typeface="Microsoft YaHei"/>
                <a:ea typeface="微软雅黑"/>
              </a:rPr>
              <a:t>• 对数增长很慢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28816"/>
            <a:ext cx="10863072" cy="10972"/>
          </a:xfrm>
          <a:prstGeom prst="rect">
            <a:avLst/>
          </a:prstGeom>
          <a:solidFill>
            <a:srgbClr val="7889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47548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900" b="0">
                <a:solidFill>
                  <a:srgbClr val="788986"/>
                </a:solidFill>
                <a:latin typeface="Microsoft YaHei"/>
                <a:ea typeface="微软雅黑"/>
              </a:defRPr>
            </a:pPr>
            <a:r>
              <a:rPr sz="900" b="0">
                <a:solidFill>
                  <a:srgbClr val="788986"/>
                </a:solidFill>
                <a:latin typeface="Microsoft YaHei"/>
                <a:ea typeface="微软雅黑"/>
              </a:rPr>
              <a:t>多模态 AI 互动式教学智能体 · 教学课件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8096" cy="1060704"/>
          </a:xfrm>
          <a:prstGeom prst="rect">
            <a:avLst/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02336"/>
            <a:ext cx="95097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3200" b="1">
                <a:solidFill>
                  <a:srgbClr val="FFFFFF"/>
                </a:solidFill>
                <a:latin typeface="Microsoft YaHei"/>
                <a:ea typeface="微软雅黑"/>
              </a:rPr>
              <a:t>快速排序递归深度随规模的增长（续 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402336"/>
            <a:ext cx="822960" cy="40233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微软雅黑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98448"/>
            <a:ext cx="3291840" cy="4892040"/>
          </a:xfrm>
          <a:prstGeom prst="roundRect">
            <a:avLst>
              <a:gd name="adj" fmla="val 2314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39"/>
            <a:ext cx="277977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0B4F49"/>
                </a:solidFill>
                <a:latin typeface="Microsoft YaHei"/>
                <a:ea typeface="微软雅黑"/>
              </a:defRPr>
            </a:pPr>
            <a:r>
              <a:rPr sz="1500" b="1">
                <a:solidFill>
                  <a:srgbClr val="0B4F49"/>
                </a:solidFill>
                <a:latin typeface="Microsoft YaHei"/>
                <a:ea typeface="微软雅黑"/>
              </a:rPr>
              <a:t>核心要点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" y="1920240"/>
            <a:ext cx="2798064" cy="424815"/>
          </a:xfrm>
          <a:prstGeom prst="roundRect">
            <a:avLst>
              <a:gd name="adj" fmla="val 17937"/>
            </a:avLst>
          </a:prstGeom>
          <a:solidFill>
            <a:srgbClr val="EAF4F1"/>
          </a:solidFill>
          <a:ln w="9525">
            <a:solidFill>
              <a:srgbClr val="DF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3" y="1920240"/>
            <a:ext cx="2578608" cy="424815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7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700" b="0">
                <a:solidFill>
                  <a:srgbClr val="18322F"/>
                </a:solidFill>
                <a:latin typeface="Microsoft YaHei"/>
                <a:ea typeface="微软雅黑"/>
              </a:rPr>
              <a:t>· 对数增长很慢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" y="2440305"/>
            <a:ext cx="2798064" cy="424815"/>
          </a:xfrm>
          <a:prstGeom prst="roundRect">
            <a:avLst>
              <a:gd name="adj" fmla="val 17937"/>
            </a:avLst>
          </a:prstGeom>
          <a:solidFill>
            <a:srgbClr val="EAF4F1"/>
          </a:solidFill>
          <a:ln w="9525">
            <a:solidFill>
              <a:srgbClr val="DF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3" y="2440305"/>
            <a:ext cx="2578608" cy="424815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7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700" b="0">
                <a:solidFill>
                  <a:srgbClr val="18322F"/>
                </a:solidFill>
                <a:latin typeface="Microsoft YaHei"/>
                <a:ea typeface="微软雅黑"/>
              </a:rPr>
              <a:t>· 规模翻倍只多一层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33087" y="1298448"/>
            <a:ext cx="7388352" cy="4892040"/>
          </a:xfrm>
          <a:prstGeom prst="roundRect">
            <a:avLst>
              <a:gd name="adj" fmla="val 1557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856231"/>
            <a:ext cx="6858000" cy="31318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4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400" b="0">
                <a:solidFill>
                  <a:srgbClr val="18322F"/>
                </a:solidFill>
                <a:latin typeface="Microsoft YaHei"/>
                <a:ea typeface="微软雅黑"/>
              </a:rPr>
              <a:t>• 规模翻倍只多一层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28816"/>
            <a:ext cx="10863072" cy="10972"/>
          </a:xfrm>
          <a:prstGeom prst="rect">
            <a:avLst/>
          </a:prstGeom>
          <a:solidFill>
            <a:srgbClr val="7889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47548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900" b="0">
                <a:solidFill>
                  <a:srgbClr val="788986"/>
                </a:solidFill>
                <a:latin typeface="Microsoft YaHei"/>
                <a:ea typeface="微软雅黑"/>
              </a:defRPr>
            </a:pPr>
            <a:r>
              <a:rPr sz="900" b="0">
                <a:solidFill>
                  <a:srgbClr val="788986"/>
                </a:solidFill>
                <a:latin typeface="Microsoft YaHei"/>
                <a:ea typeface="微软雅黑"/>
              </a:rPr>
              <a:t>多模态 AI 互动式教学智能体 · 教学课件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8096" cy="1060704"/>
          </a:xfrm>
          <a:prstGeom prst="rect">
            <a:avLst/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02336"/>
            <a:ext cx="95097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3200" b="1">
                <a:solidFill>
                  <a:srgbClr val="FFFFFF"/>
                </a:solidFill>
                <a:latin typeface="Microsoft YaHei"/>
                <a:ea typeface="微软雅黑"/>
              </a:rPr>
              <a:t>排序算法对比表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402336"/>
            <a:ext cx="822960" cy="40233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微软雅黑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98448"/>
            <a:ext cx="3291840" cy="4892040"/>
          </a:xfrm>
          <a:prstGeom prst="roundRect">
            <a:avLst>
              <a:gd name="adj" fmla="val 2314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39"/>
            <a:ext cx="277977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0B4F49"/>
                </a:solidFill>
                <a:latin typeface="Microsoft YaHei"/>
                <a:ea typeface="微软雅黑"/>
              </a:defRPr>
            </a:pPr>
            <a:r>
              <a:rPr sz="1500" b="1">
                <a:solidFill>
                  <a:srgbClr val="0B4F49"/>
                </a:solidFill>
                <a:latin typeface="Microsoft YaHei"/>
                <a:ea typeface="微软雅黑"/>
              </a:rPr>
              <a:t>核心要点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" y="1920240"/>
            <a:ext cx="2798064" cy="424815"/>
          </a:xfrm>
          <a:prstGeom prst="roundRect">
            <a:avLst>
              <a:gd name="adj" fmla="val 17937"/>
            </a:avLst>
          </a:prstGeom>
          <a:solidFill>
            <a:srgbClr val="EAF4F1"/>
          </a:solidFill>
          <a:ln w="9525">
            <a:solidFill>
              <a:srgbClr val="DF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3" y="1920240"/>
            <a:ext cx="2578608" cy="424815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7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700" b="0">
                <a:solidFill>
                  <a:srgbClr val="18322F"/>
                </a:solidFill>
                <a:latin typeface="Microsoft YaHei"/>
                <a:ea typeface="微软雅黑"/>
              </a:rPr>
              <a:t>· 稳定看相等元素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" y="2440305"/>
            <a:ext cx="2798064" cy="424815"/>
          </a:xfrm>
          <a:prstGeom prst="roundRect">
            <a:avLst>
              <a:gd name="adj" fmla="val 17937"/>
            </a:avLst>
          </a:prstGeom>
          <a:solidFill>
            <a:srgbClr val="EAF4F1"/>
          </a:solidFill>
          <a:ln w="9525">
            <a:solidFill>
              <a:srgbClr val="DF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3" y="2440305"/>
            <a:ext cx="2578608" cy="424815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7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700" b="0">
                <a:solidFill>
                  <a:srgbClr val="18322F"/>
                </a:solidFill>
                <a:latin typeface="Microsoft YaHei"/>
                <a:ea typeface="微软雅黑"/>
              </a:rPr>
              <a:t>· 复杂度看平均与最坏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33087" y="1298448"/>
            <a:ext cx="7388352" cy="2240280"/>
          </a:xfrm>
          <a:prstGeom prst="roundRect">
            <a:avLst>
              <a:gd name="adj" fmla="val 3401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3808" y="1542592"/>
            <a:ext cx="2275941" cy="381304"/>
          </a:xfrm>
          <a:prstGeom prst="rect">
            <a:avLst/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8108" y="1542592"/>
            <a:ext cx="2047341" cy="3813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000" b="1">
                <a:solidFill>
                  <a:srgbClr val="FFFFFF"/>
                </a:solidFill>
                <a:latin typeface="Microsoft YaHei"/>
                <a:ea typeface="微软雅黑"/>
              </a:rPr>
              <a:t>算法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89750" y="1542592"/>
            <a:ext cx="2275941" cy="381304"/>
          </a:xfrm>
          <a:prstGeom prst="rect">
            <a:avLst/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4050" y="1542592"/>
            <a:ext cx="2047341" cy="3813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000" b="1">
                <a:solidFill>
                  <a:srgbClr val="FFFFFF"/>
                </a:solidFill>
                <a:latin typeface="Microsoft YaHei"/>
                <a:ea typeface="微软雅黑"/>
              </a:rPr>
              <a:t>稳定性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5692" y="1542592"/>
            <a:ext cx="2275941" cy="381304"/>
          </a:xfrm>
          <a:prstGeom prst="rect">
            <a:avLst/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9992" y="1542592"/>
            <a:ext cx="2047341" cy="3813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000" b="1">
                <a:solidFill>
                  <a:srgbClr val="FFFFFF"/>
                </a:solidFill>
                <a:latin typeface="Microsoft YaHei"/>
                <a:ea typeface="微软雅黑"/>
              </a:rPr>
              <a:t>平均复杂度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13808" y="1923897"/>
            <a:ext cx="2275941" cy="507796"/>
          </a:xfrm>
          <a:prstGeom prst="rect">
            <a:avLst/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8108" y="1923897"/>
            <a:ext cx="2047341" cy="5077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000" b="1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1">
                <a:solidFill>
                  <a:srgbClr val="18322F"/>
                </a:solidFill>
                <a:latin typeface="Microsoft YaHei"/>
                <a:ea typeface="微软雅黑"/>
              </a:rPr>
              <a:t>冒泡排序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89750" y="1923897"/>
            <a:ext cx="2275941" cy="507796"/>
          </a:xfrm>
          <a:prstGeom prst="rect">
            <a:avLst/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4050" y="1923897"/>
            <a:ext cx="2047341" cy="5077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10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22F"/>
                </a:solidFill>
                <a:latin typeface="Microsoft YaHei"/>
                <a:ea typeface="微软雅黑"/>
              </a:rPr>
              <a:t>稳定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5692" y="1923897"/>
            <a:ext cx="2275941" cy="507796"/>
          </a:xfrm>
          <a:prstGeom prst="rect">
            <a:avLst/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79992" y="1923897"/>
            <a:ext cx="2047341" cy="5077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10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22F"/>
                </a:solidFill>
                <a:latin typeface="Microsoft YaHei"/>
                <a:ea typeface="微软雅黑"/>
              </a:rPr>
              <a:t>O(n²)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13808" y="2431694"/>
            <a:ext cx="2275941" cy="507796"/>
          </a:xfrm>
          <a:prstGeom prst="rect">
            <a:avLst/>
          </a:prstGeom>
          <a:solidFill>
            <a:srgbClr val="EEF3F1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8108" y="2431694"/>
            <a:ext cx="2047341" cy="5077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000" b="1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1">
                <a:solidFill>
                  <a:srgbClr val="18322F"/>
                </a:solidFill>
                <a:latin typeface="Microsoft YaHei"/>
                <a:ea typeface="微软雅黑"/>
              </a:rPr>
              <a:t>快速排序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89750" y="2431694"/>
            <a:ext cx="2275941" cy="507796"/>
          </a:xfrm>
          <a:prstGeom prst="rect">
            <a:avLst/>
          </a:prstGeom>
          <a:solidFill>
            <a:srgbClr val="EEF3F1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04050" y="2431694"/>
            <a:ext cx="2047341" cy="5077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10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22F"/>
                </a:solidFill>
                <a:latin typeface="Microsoft YaHei"/>
                <a:ea typeface="微软雅黑"/>
              </a:rPr>
              <a:t>不稳定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5692" y="2431694"/>
            <a:ext cx="2275941" cy="507796"/>
          </a:xfrm>
          <a:prstGeom prst="rect">
            <a:avLst/>
          </a:prstGeom>
          <a:solidFill>
            <a:srgbClr val="EEF3F1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9992" y="2431694"/>
            <a:ext cx="2047341" cy="5077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10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22F"/>
                </a:solidFill>
                <a:latin typeface="Microsoft YaHei"/>
                <a:ea typeface="微软雅黑"/>
              </a:rPr>
              <a:t>O(n log n)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13808" y="2939491"/>
            <a:ext cx="2275941" cy="507796"/>
          </a:xfrm>
          <a:prstGeom prst="rect">
            <a:avLst/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8108" y="2939491"/>
            <a:ext cx="2047341" cy="5077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000" b="1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1">
                <a:solidFill>
                  <a:srgbClr val="18322F"/>
                </a:solidFill>
                <a:latin typeface="Microsoft YaHei"/>
                <a:ea typeface="微软雅黑"/>
              </a:rPr>
              <a:t>归并排序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89750" y="2939491"/>
            <a:ext cx="2275941" cy="507796"/>
          </a:xfrm>
          <a:prstGeom prst="rect">
            <a:avLst/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04050" y="2939491"/>
            <a:ext cx="2047341" cy="5077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10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22F"/>
                </a:solidFill>
                <a:latin typeface="Microsoft YaHei"/>
                <a:ea typeface="微软雅黑"/>
              </a:rPr>
              <a:t>稳定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5692" y="2939491"/>
            <a:ext cx="2275941" cy="507796"/>
          </a:xfrm>
          <a:prstGeom prst="rect">
            <a:avLst/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79992" y="2939491"/>
            <a:ext cx="2047341" cy="5077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10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22F"/>
                </a:solidFill>
                <a:latin typeface="Microsoft YaHei"/>
                <a:ea typeface="微软雅黑"/>
              </a:rPr>
              <a:t>O(n log n)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33087" y="3666744"/>
            <a:ext cx="7388352" cy="2523744"/>
          </a:xfrm>
          <a:prstGeom prst="roundRect">
            <a:avLst>
              <a:gd name="adj" fmla="val 3019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0" y="4224528"/>
            <a:ext cx="6858000" cy="330327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500" b="0">
                <a:solidFill>
                  <a:srgbClr val="18322F"/>
                </a:solidFill>
                <a:latin typeface="Microsoft YaHei"/>
                <a:ea typeface="微软雅黑"/>
              </a:rPr>
              <a:t>同一组维度下横向比较才好读。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0" y="4628006"/>
            <a:ext cx="50292" cy="322326"/>
          </a:xfrm>
          <a:prstGeom prst="rect">
            <a:avLst/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0" y="4573143"/>
            <a:ext cx="6473952" cy="48691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2200" b="1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2200" b="1">
                <a:solidFill>
                  <a:srgbClr val="18322F"/>
                </a:solidFill>
                <a:latin typeface="Microsoft YaHei"/>
                <a:ea typeface="微软雅黑"/>
              </a:rPr>
              <a:t>没有最好的算法，只有最合适的场景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5133213"/>
            <a:ext cx="6858000" cy="31318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4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400" b="0">
                <a:solidFill>
                  <a:srgbClr val="18322F"/>
                </a:solidFill>
                <a:latin typeface="Microsoft YaHei"/>
                <a:ea typeface="微软雅黑"/>
              </a:rPr>
              <a:t>• 稳定看相等元素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28816"/>
            <a:ext cx="10863072" cy="10972"/>
          </a:xfrm>
          <a:prstGeom prst="rect">
            <a:avLst/>
          </a:prstGeom>
          <a:solidFill>
            <a:srgbClr val="7889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47548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900" b="0">
                <a:solidFill>
                  <a:srgbClr val="788986"/>
                </a:solidFill>
                <a:latin typeface="Microsoft YaHei"/>
                <a:ea typeface="微软雅黑"/>
              </a:defRPr>
            </a:pPr>
            <a:r>
              <a:rPr sz="900" b="0">
                <a:solidFill>
                  <a:srgbClr val="788986"/>
                </a:solidFill>
                <a:latin typeface="Microsoft YaHei"/>
                <a:ea typeface="微软雅黑"/>
              </a:rPr>
              <a:t>多模态 AI 互动式教学智能体 · 教学课件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8096" cy="1060704"/>
          </a:xfrm>
          <a:prstGeom prst="rect">
            <a:avLst/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02336"/>
            <a:ext cx="95097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3200" b="1">
                <a:solidFill>
                  <a:srgbClr val="FFFFFF"/>
                </a:solidFill>
                <a:latin typeface="Microsoft YaHei"/>
                <a:ea typeface="微软雅黑"/>
              </a:rPr>
              <a:t>排序算法对比表（续 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402336"/>
            <a:ext cx="822960" cy="40233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微软雅黑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98448"/>
            <a:ext cx="3291840" cy="4892040"/>
          </a:xfrm>
          <a:prstGeom prst="roundRect">
            <a:avLst>
              <a:gd name="adj" fmla="val 2314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39"/>
            <a:ext cx="277977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0B4F49"/>
                </a:solidFill>
                <a:latin typeface="Microsoft YaHei"/>
                <a:ea typeface="微软雅黑"/>
              </a:defRPr>
            </a:pPr>
            <a:r>
              <a:rPr sz="1500" b="1">
                <a:solidFill>
                  <a:srgbClr val="0B4F49"/>
                </a:solidFill>
                <a:latin typeface="Microsoft YaHei"/>
                <a:ea typeface="微软雅黑"/>
              </a:rPr>
              <a:t>核心要点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" y="1920240"/>
            <a:ext cx="2798064" cy="424815"/>
          </a:xfrm>
          <a:prstGeom prst="roundRect">
            <a:avLst>
              <a:gd name="adj" fmla="val 17937"/>
            </a:avLst>
          </a:prstGeom>
          <a:solidFill>
            <a:srgbClr val="EAF4F1"/>
          </a:solidFill>
          <a:ln w="9525">
            <a:solidFill>
              <a:srgbClr val="DF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3" y="1920240"/>
            <a:ext cx="2578608" cy="424815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7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700" b="0">
                <a:solidFill>
                  <a:srgbClr val="18322F"/>
                </a:solidFill>
                <a:latin typeface="Microsoft YaHei"/>
                <a:ea typeface="微软雅黑"/>
              </a:rPr>
              <a:t>· 稳定看相等元素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" y="2440305"/>
            <a:ext cx="2798064" cy="424815"/>
          </a:xfrm>
          <a:prstGeom prst="roundRect">
            <a:avLst>
              <a:gd name="adj" fmla="val 17937"/>
            </a:avLst>
          </a:prstGeom>
          <a:solidFill>
            <a:srgbClr val="EAF4F1"/>
          </a:solidFill>
          <a:ln w="9525">
            <a:solidFill>
              <a:srgbClr val="DF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3" y="2440305"/>
            <a:ext cx="2578608" cy="424815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7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700" b="0">
                <a:solidFill>
                  <a:srgbClr val="18322F"/>
                </a:solidFill>
                <a:latin typeface="Microsoft YaHei"/>
                <a:ea typeface="微软雅黑"/>
              </a:rPr>
              <a:t>· 复杂度看平均与最坏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33087" y="1298448"/>
            <a:ext cx="7388352" cy="4892040"/>
          </a:xfrm>
          <a:prstGeom prst="roundRect">
            <a:avLst>
              <a:gd name="adj" fmla="val 1557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856231"/>
            <a:ext cx="6858000" cy="31318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4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400" b="0">
                <a:solidFill>
                  <a:srgbClr val="18322F"/>
                </a:solidFill>
                <a:latin typeface="Microsoft YaHei"/>
                <a:ea typeface="微软雅黑"/>
              </a:rPr>
              <a:t>• 复杂度看平均与最坏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28816"/>
            <a:ext cx="10863072" cy="10972"/>
          </a:xfrm>
          <a:prstGeom prst="rect">
            <a:avLst/>
          </a:prstGeom>
          <a:solidFill>
            <a:srgbClr val="7889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47548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900" b="0">
                <a:solidFill>
                  <a:srgbClr val="788986"/>
                </a:solidFill>
                <a:latin typeface="Microsoft YaHei"/>
                <a:ea typeface="微软雅黑"/>
              </a:defRPr>
            </a:pPr>
            <a:r>
              <a:rPr sz="900" b="0">
                <a:solidFill>
                  <a:srgbClr val="788986"/>
                </a:solidFill>
                <a:latin typeface="Microsoft YaHei"/>
                <a:ea typeface="微软雅黑"/>
              </a:rPr>
              <a:t>多模态 AI 互动式教学智能体 · 教学课件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8096" cy="1060704"/>
          </a:xfrm>
          <a:prstGeom prst="rect">
            <a:avLst/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02336"/>
            <a:ext cx="95097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3200" b="1">
                <a:solidFill>
                  <a:srgbClr val="FFFFFF"/>
                </a:solidFill>
                <a:latin typeface="Microsoft YaHei"/>
                <a:ea typeface="微软雅黑"/>
              </a:rPr>
              <a:t>压力样本：对比表取满 5 列 6 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402336"/>
            <a:ext cx="822960" cy="40233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微软雅黑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98448"/>
            <a:ext cx="3291840" cy="4892040"/>
          </a:xfrm>
          <a:prstGeom prst="roundRect">
            <a:avLst>
              <a:gd name="adj" fmla="val 2314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39"/>
            <a:ext cx="277977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0B4F49"/>
                </a:solidFill>
                <a:latin typeface="Microsoft YaHei"/>
                <a:ea typeface="微软雅黑"/>
              </a:defRPr>
            </a:pPr>
            <a:r>
              <a:rPr sz="1500" b="1">
                <a:solidFill>
                  <a:srgbClr val="0B4F49"/>
                </a:solidFill>
                <a:latin typeface="Microsoft YaHei"/>
                <a:ea typeface="微软雅黑"/>
              </a:rPr>
              <a:t>核心要点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" y="1920240"/>
            <a:ext cx="2798064" cy="716280"/>
          </a:xfrm>
          <a:prstGeom prst="roundRect">
            <a:avLst>
              <a:gd name="adj" fmla="val 10638"/>
            </a:avLst>
          </a:prstGeom>
          <a:solidFill>
            <a:srgbClr val="EAF4F1"/>
          </a:solidFill>
          <a:ln w="9525">
            <a:solidFill>
              <a:srgbClr val="DF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3" y="1920240"/>
            <a:ext cx="2578608" cy="7162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7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700" b="0">
                <a:solidFill>
                  <a:srgbClr val="18322F"/>
                </a:solidFill>
                <a:latin typeface="Microsoft YaHei"/>
                <a:ea typeface="微软雅黑"/>
              </a:rPr>
              <a:t>· 稳定排序用于多关键字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" y="2731770"/>
            <a:ext cx="2798064" cy="424815"/>
          </a:xfrm>
          <a:prstGeom prst="roundRect">
            <a:avLst>
              <a:gd name="adj" fmla="val 17937"/>
            </a:avLst>
          </a:prstGeom>
          <a:solidFill>
            <a:srgbClr val="EAF4F1"/>
          </a:solidFill>
          <a:ln w="9525">
            <a:solidFill>
              <a:srgbClr val="DF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3" y="2731770"/>
            <a:ext cx="2578608" cy="424815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7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700" b="0">
                <a:solidFill>
                  <a:srgbClr val="18322F"/>
                </a:solidFill>
                <a:latin typeface="Microsoft YaHei"/>
                <a:ea typeface="微软雅黑"/>
              </a:rPr>
              <a:t>· 空间换时间要权衡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33087" y="1298448"/>
            <a:ext cx="7388352" cy="2240280"/>
          </a:xfrm>
          <a:prstGeom prst="roundRect">
            <a:avLst>
              <a:gd name="adj" fmla="val 3401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3808" y="1542592"/>
            <a:ext cx="1365564" cy="381304"/>
          </a:xfrm>
          <a:prstGeom prst="rect">
            <a:avLst/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8108" y="1542592"/>
            <a:ext cx="1136964" cy="3813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000" b="1">
                <a:solidFill>
                  <a:srgbClr val="FFFFFF"/>
                </a:solidFill>
                <a:latin typeface="Microsoft YaHei"/>
                <a:ea typeface="微软雅黑"/>
              </a:rPr>
              <a:t>算法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79373" y="1542592"/>
            <a:ext cx="1365564" cy="381304"/>
          </a:xfrm>
          <a:prstGeom prst="rect">
            <a:avLst/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93673" y="1542592"/>
            <a:ext cx="1136964" cy="3813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000" b="1">
                <a:solidFill>
                  <a:srgbClr val="FFFFFF"/>
                </a:solidFill>
                <a:latin typeface="Microsoft YaHei"/>
                <a:ea typeface="微软雅黑"/>
              </a:rPr>
              <a:t>稳定性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44938" y="1542592"/>
            <a:ext cx="1365564" cy="381304"/>
          </a:xfrm>
          <a:prstGeom prst="rect">
            <a:avLst/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59238" y="1542592"/>
            <a:ext cx="1136964" cy="3813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000" b="1">
                <a:solidFill>
                  <a:srgbClr val="FFFFFF"/>
                </a:solidFill>
                <a:latin typeface="Microsoft YaHei"/>
                <a:ea typeface="微软雅黑"/>
              </a:rPr>
              <a:t>平均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10503" y="1542592"/>
            <a:ext cx="1365564" cy="381304"/>
          </a:xfrm>
          <a:prstGeom prst="rect">
            <a:avLst/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24803" y="1542592"/>
            <a:ext cx="1136964" cy="3813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000" b="1">
                <a:solidFill>
                  <a:srgbClr val="FFFFFF"/>
                </a:solidFill>
                <a:latin typeface="Microsoft YaHei"/>
                <a:ea typeface="微软雅黑"/>
              </a:rPr>
              <a:t>最坏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76068" y="1542592"/>
            <a:ext cx="1365564" cy="381304"/>
          </a:xfrm>
          <a:prstGeom prst="rect">
            <a:avLst/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90368" y="1542592"/>
            <a:ext cx="1136964" cy="3813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000" b="1">
                <a:solidFill>
                  <a:srgbClr val="FFFFFF"/>
                </a:solidFill>
                <a:latin typeface="Microsoft YaHei"/>
                <a:ea typeface="微软雅黑"/>
              </a:rPr>
              <a:t>空间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13808" y="1923897"/>
            <a:ext cx="1365564" cy="253898"/>
          </a:xfrm>
          <a:prstGeom prst="rect">
            <a:avLst/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8108" y="1923897"/>
            <a:ext cx="1136964" cy="25389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000" b="1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1">
                <a:solidFill>
                  <a:srgbClr val="18322F"/>
                </a:solidFill>
                <a:latin typeface="Microsoft YaHei"/>
                <a:ea typeface="微软雅黑"/>
              </a:rPr>
              <a:t>冒泡排序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79373" y="1923897"/>
            <a:ext cx="1365564" cy="253898"/>
          </a:xfrm>
          <a:prstGeom prst="rect">
            <a:avLst/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3673" y="1923897"/>
            <a:ext cx="1136964" cy="25389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10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22F"/>
                </a:solidFill>
                <a:latin typeface="Microsoft YaHei"/>
                <a:ea typeface="微软雅黑"/>
              </a:rPr>
              <a:t>稳定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44938" y="1923897"/>
            <a:ext cx="1365564" cy="253898"/>
          </a:xfrm>
          <a:prstGeom prst="rect">
            <a:avLst/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59238" y="1923897"/>
            <a:ext cx="1136964" cy="25389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10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22F"/>
                </a:solidFill>
                <a:latin typeface="Microsoft YaHei"/>
                <a:ea typeface="微软雅黑"/>
              </a:rPr>
              <a:t>O(n²)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10503" y="1923897"/>
            <a:ext cx="1365564" cy="253898"/>
          </a:xfrm>
          <a:prstGeom prst="rect">
            <a:avLst/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24803" y="1923897"/>
            <a:ext cx="1136964" cy="25389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10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22F"/>
                </a:solidFill>
                <a:latin typeface="Microsoft YaHei"/>
                <a:ea typeface="微软雅黑"/>
              </a:rPr>
              <a:t>O(n²)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6068" y="1923897"/>
            <a:ext cx="1365564" cy="253898"/>
          </a:xfrm>
          <a:prstGeom prst="rect">
            <a:avLst/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90368" y="1923897"/>
            <a:ext cx="1136964" cy="25389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10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22F"/>
                </a:solidFill>
                <a:latin typeface="Microsoft YaHei"/>
                <a:ea typeface="微软雅黑"/>
              </a:rPr>
              <a:t>O(1)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13808" y="2177795"/>
            <a:ext cx="1365564" cy="253898"/>
          </a:xfrm>
          <a:prstGeom prst="rect">
            <a:avLst/>
          </a:prstGeom>
          <a:solidFill>
            <a:srgbClr val="EEF3F1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8108" y="2177795"/>
            <a:ext cx="1136964" cy="25389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000" b="1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1">
                <a:solidFill>
                  <a:srgbClr val="18322F"/>
                </a:solidFill>
                <a:latin typeface="Microsoft YaHei"/>
                <a:ea typeface="微软雅黑"/>
              </a:rPr>
              <a:t>插入排序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79373" y="2177795"/>
            <a:ext cx="1365564" cy="253898"/>
          </a:xfrm>
          <a:prstGeom prst="rect">
            <a:avLst/>
          </a:prstGeom>
          <a:solidFill>
            <a:srgbClr val="EEF3F1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93673" y="2177795"/>
            <a:ext cx="1136964" cy="25389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10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22F"/>
                </a:solidFill>
                <a:latin typeface="Microsoft YaHei"/>
                <a:ea typeface="微软雅黑"/>
              </a:rPr>
              <a:t>稳定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44938" y="2177795"/>
            <a:ext cx="1365564" cy="253898"/>
          </a:xfrm>
          <a:prstGeom prst="rect">
            <a:avLst/>
          </a:prstGeom>
          <a:solidFill>
            <a:srgbClr val="EEF3F1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59238" y="2177795"/>
            <a:ext cx="1136964" cy="25389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10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22F"/>
                </a:solidFill>
                <a:latin typeface="Microsoft YaHei"/>
                <a:ea typeface="微软雅黑"/>
              </a:rPr>
              <a:t>O(n²)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10503" y="2177795"/>
            <a:ext cx="1365564" cy="253898"/>
          </a:xfrm>
          <a:prstGeom prst="rect">
            <a:avLst/>
          </a:prstGeom>
          <a:solidFill>
            <a:srgbClr val="EEF3F1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24803" y="2177795"/>
            <a:ext cx="1136964" cy="25389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10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22F"/>
                </a:solidFill>
                <a:latin typeface="Microsoft YaHei"/>
                <a:ea typeface="微软雅黑"/>
              </a:rPr>
              <a:t>O(n²)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876068" y="2177795"/>
            <a:ext cx="1365564" cy="253898"/>
          </a:xfrm>
          <a:prstGeom prst="rect">
            <a:avLst/>
          </a:prstGeom>
          <a:solidFill>
            <a:srgbClr val="EEF3F1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90368" y="2177795"/>
            <a:ext cx="1136964" cy="25389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10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22F"/>
                </a:solidFill>
                <a:latin typeface="Microsoft YaHei"/>
                <a:ea typeface="微软雅黑"/>
              </a:rPr>
              <a:t>O(1)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13808" y="2431694"/>
            <a:ext cx="1365564" cy="253898"/>
          </a:xfrm>
          <a:prstGeom prst="rect">
            <a:avLst/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28108" y="2431694"/>
            <a:ext cx="1136964" cy="25389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000" b="1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1">
                <a:solidFill>
                  <a:srgbClr val="18322F"/>
                </a:solidFill>
                <a:latin typeface="Microsoft YaHei"/>
                <a:ea typeface="微软雅黑"/>
              </a:rPr>
              <a:t>选择排序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79373" y="2431694"/>
            <a:ext cx="1365564" cy="253898"/>
          </a:xfrm>
          <a:prstGeom prst="rect">
            <a:avLst/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93673" y="2431694"/>
            <a:ext cx="1136964" cy="25389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10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22F"/>
                </a:solidFill>
                <a:latin typeface="Microsoft YaHei"/>
                <a:ea typeface="微软雅黑"/>
              </a:rPr>
              <a:t>不稳定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44938" y="2431694"/>
            <a:ext cx="1365564" cy="253898"/>
          </a:xfrm>
          <a:prstGeom prst="rect">
            <a:avLst/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59238" y="2431694"/>
            <a:ext cx="1136964" cy="25389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10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22F"/>
                </a:solidFill>
                <a:latin typeface="Microsoft YaHei"/>
                <a:ea typeface="微软雅黑"/>
              </a:rPr>
              <a:t>O(n²)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10503" y="2431694"/>
            <a:ext cx="1365564" cy="253898"/>
          </a:xfrm>
          <a:prstGeom prst="rect">
            <a:avLst/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24803" y="2431694"/>
            <a:ext cx="1136964" cy="25389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10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22F"/>
                </a:solidFill>
                <a:latin typeface="Microsoft YaHei"/>
                <a:ea typeface="微软雅黑"/>
              </a:rPr>
              <a:t>O(n²)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876068" y="2431694"/>
            <a:ext cx="1365564" cy="253898"/>
          </a:xfrm>
          <a:prstGeom prst="rect">
            <a:avLst/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90368" y="2431694"/>
            <a:ext cx="1136964" cy="25389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10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22F"/>
                </a:solidFill>
                <a:latin typeface="Microsoft YaHei"/>
                <a:ea typeface="微软雅黑"/>
              </a:rPr>
              <a:t>O(1)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413808" y="2685592"/>
            <a:ext cx="1365564" cy="253898"/>
          </a:xfrm>
          <a:prstGeom prst="rect">
            <a:avLst/>
          </a:prstGeom>
          <a:solidFill>
            <a:srgbClr val="EEF3F1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28108" y="2685592"/>
            <a:ext cx="1136964" cy="25389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000" b="1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1">
                <a:solidFill>
                  <a:srgbClr val="18322F"/>
                </a:solidFill>
                <a:latin typeface="Microsoft YaHei"/>
                <a:ea typeface="微软雅黑"/>
              </a:rPr>
              <a:t>快速排序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779373" y="2685592"/>
            <a:ext cx="1365564" cy="253898"/>
          </a:xfrm>
          <a:prstGeom prst="rect">
            <a:avLst/>
          </a:prstGeom>
          <a:solidFill>
            <a:srgbClr val="EEF3F1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893673" y="2685592"/>
            <a:ext cx="1136964" cy="25389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10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22F"/>
                </a:solidFill>
                <a:latin typeface="Microsoft YaHei"/>
                <a:ea typeface="微软雅黑"/>
              </a:rPr>
              <a:t>不稳定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44938" y="2685592"/>
            <a:ext cx="1365564" cy="253898"/>
          </a:xfrm>
          <a:prstGeom prst="rect">
            <a:avLst/>
          </a:prstGeom>
          <a:solidFill>
            <a:srgbClr val="EEF3F1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59238" y="2685592"/>
            <a:ext cx="1136964" cy="25389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8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800" b="0">
                <a:solidFill>
                  <a:srgbClr val="18322F"/>
                </a:solidFill>
                <a:latin typeface="Microsoft YaHei"/>
                <a:ea typeface="微软雅黑"/>
              </a:rPr>
              <a:t>O(n log n)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10503" y="2685592"/>
            <a:ext cx="1365564" cy="253898"/>
          </a:xfrm>
          <a:prstGeom prst="rect">
            <a:avLst/>
          </a:prstGeom>
          <a:solidFill>
            <a:srgbClr val="EEF3F1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24803" y="2685592"/>
            <a:ext cx="1136964" cy="25389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10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22F"/>
                </a:solidFill>
                <a:latin typeface="Microsoft YaHei"/>
                <a:ea typeface="微软雅黑"/>
              </a:rPr>
              <a:t>O(n²)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876068" y="2685592"/>
            <a:ext cx="1365564" cy="253898"/>
          </a:xfrm>
          <a:prstGeom prst="rect">
            <a:avLst/>
          </a:prstGeom>
          <a:solidFill>
            <a:srgbClr val="EEF3F1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90368" y="2685592"/>
            <a:ext cx="1136964" cy="25389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10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22F"/>
                </a:solidFill>
                <a:latin typeface="Microsoft YaHei"/>
                <a:ea typeface="微软雅黑"/>
              </a:rPr>
              <a:t>O(log n)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413808" y="2939491"/>
            <a:ext cx="1365564" cy="253898"/>
          </a:xfrm>
          <a:prstGeom prst="rect">
            <a:avLst/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28108" y="2939491"/>
            <a:ext cx="1136964" cy="25389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000" b="1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1">
                <a:solidFill>
                  <a:srgbClr val="18322F"/>
                </a:solidFill>
                <a:latin typeface="Microsoft YaHei"/>
                <a:ea typeface="微软雅黑"/>
              </a:rPr>
              <a:t>归并排序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779373" y="2939491"/>
            <a:ext cx="1365564" cy="253898"/>
          </a:xfrm>
          <a:prstGeom prst="rect">
            <a:avLst/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893673" y="2939491"/>
            <a:ext cx="1136964" cy="25389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10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22F"/>
                </a:solidFill>
                <a:latin typeface="Microsoft YaHei"/>
                <a:ea typeface="微软雅黑"/>
              </a:rPr>
              <a:t>稳定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144938" y="2939491"/>
            <a:ext cx="1365564" cy="253898"/>
          </a:xfrm>
          <a:prstGeom prst="rect">
            <a:avLst/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259238" y="2939491"/>
            <a:ext cx="1136964" cy="25389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8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800" b="0">
                <a:solidFill>
                  <a:srgbClr val="18322F"/>
                </a:solidFill>
                <a:latin typeface="Microsoft YaHei"/>
                <a:ea typeface="微软雅黑"/>
              </a:rPr>
              <a:t>O(n log n)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510503" y="2939491"/>
            <a:ext cx="1365564" cy="253898"/>
          </a:xfrm>
          <a:prstGeom prst="rect">
            <a:avLst/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24803" y="2939491"/>
            <a:ext cx="1136964" cy="25389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8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800" b="0">
                <a:solidFill>
                  <a:srgbClr val="18322F"/>
                </a:solidFill>
                <a:latin typeface="Microsoft YaHei"/>
                <a:ea typeface="微软雅黑"/>
              </a:rPr>
              <a:t>O(n log n)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876068" y="2939491"/>
            <a:ext cx="1365564" cy="253898"/>
          </a:xfrm>
          <a:prstGeom prst="rect">
            <a:avLst/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990368" y="2939491"/>
            <a:ext cx="1136964" cy="25389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10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22F"/>
                </a:solidFill>
                <a:latin typeface="Microsoft YaHei"/>
                <a:ea typeface="微软雅黑"/>
              </a:rPr>
              <a:t>O(n)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413808" y="3193389"/>
            <a:ext cx="1365564" cy="253898"/>
          </a:xfrm>
          <a:prstGeom prst="rect">
            <a:avLst/>
          </a:prstGeom>
          <a:solidFill>
            <a:srgbClr val="EEF3F1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28108" y="3193389"/>
            <a:ext cx="1136964" cy="25389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000" b="1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1">
                <a:solidFill>
                  <a:srgbClr val="18322F"/>
                </a:solidFill>
                <a:latin typeface="Microsoft YaHei"/>
                <a:ea typeface="微软雅黑"/>
              </a:rPr>
              <a:t>堆排序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779373" y="3193389"/>
            <a:ext cx="1365564" cy="253898"/>
          </a:xfrm>
          <a:prstGeom prst="rect">
            <a:avLst/>
          </a:prstGeom>
          <a:solidFill>
            <a:srgbClr val="EEF3F1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893673" y="3193389"/>
            <a:ext cx="1136964" cy="25389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10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22F"/>
                </a:solidFill>
                <a:latin typeface="Microsoft YaHei"/>
                <a:ea typeface="微软雅黑"/>
              </a:rPr>
              <a:t>不稳定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144938" y="3193389"/>
            <a:ext cx="1365564" cy="253898"/>
          </a:xfrm>
          <a:prstGeom prst="rect">
            <a:avLst/>
          </a:prstGeom>
          <a:solidFill>
            <a:srgbClr val="EEF3F1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259238" y="3193389"/>
            <a:ext cx="1136964" cy="25389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8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800" b="0">
                <a:solidFill>
                  <a:srgbClr val="18322F"/>
                </a:solidFill>
                <a:latin typeface="Microsoft YaHei"/>
                <a:ea typeface="微软雅黑"/>
              </a:rPr>
              <a:t>O(n log n)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510503" y="3193389"/>
            <a:ext cx="1365564" cy="253898"/>
          </a:xfrm>
          <a:prstGeom prst="rect">
            <a:avLst/>
          </a:prstGeom>
          <a:solidFill>
            <a:srgbClr val="EEF3F1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624803" y="3193389"/>
            <a:ext cx="1136964" cy="25389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8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800" b="0">
                <a:solidFill>
                  <a:srgbClr val="18322F"/>
                </a:solidFill>
                <a:latin typeface="Microsoft YaHei"/>
                <a:ea typeface="微软雅黑"/>
              </a:rPr>
              <a:t>O(n log n)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876068" y="3193389"/>
            <a:ext cx="1365564" cy="253898"/>
          </a:xfrm>
          <a:prstGeom prst="rect">
            <a:avLst/>
          </a:prstGeom>
          <a:solidFill>
            <a:srgbClr val="EEF3F1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990368" y="3193389"/>
            <a:ext cx="1136964" cy="25389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10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22F"/>
                </a:solidFill>
                <a:latin typeface="Microsoft YaHei"/>
                <a:ea typeface="微软雅黑"/>
              </a:rPr>
              <a:t>O(1)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133087" y="3666744"/>
            <a:ext cx="7388352" cy="2523744"/>
          </a:xfrm>
          <a:prstGeom prst="roundRect">
            <a:avLst>
              <a:gd name="adj" fmla="val 3019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389120" y="4224528"/>
            <a:ext cx="6858000" cy="330327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500" b="0">
                <a:solidFill>
                  <a:srgbClr val="18322F"/>
                </a:solidFill>
                <a:latin typeface="Microsoft YaHei"/>
                <a:ea typeface="微软雅黑"/>
              </a:rPr>
              <a:t>列数与行数都取上限，检查表格是否跑出页面底部、正文是否还能放下。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389120" y="4628006"/>
            <a:ext cx="50292" cy="322326"/>
          </a:xfrm>
          <a:prstGeom prst="rect">
            <a:avLst/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572000" y="4573143"/>
            <a:ext cx="6473952" cy="48691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2200" b="1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2200" b="1">
                <a:solidFill>
                  <a:srgbClr val="18322F"/>
                </a:solidFill>
                <a:latin typeface="Microsoft YaHei"/>
                <a:ea typeface="微软雅黑"/>
              </a:rPr>
              <a:t>表格越宽越高，留给正文的空间就越小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389120" y="5133213"/>
            <a:ext cx="6858000" cy="31318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4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400" b="0">
                <a:solidFill>
                  <a:srgbClr val="18322F"/>
                </a:solidFill>
                <a:latin typeface="Microsoft YaHei"/>
                <a:ea typeface="微软雅黑"/>
              </a:rPr>
              <a:t>• 稳定排序用于多关键字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28816"/>
            <a:ext cx="10863072" cy="10972"/>
          </a:xfrm>
          <a:prstGeom prst="rect">
            <a:avLst/>
          </a:prstGeom>
          <a:solidFill>
            <a:srgbClr val="7889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47548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900" b="0">
                <a:solidFill>
                  <a:srgbClr val="788986"/>
                </a:solidFill>
                <a:latin typeface="Microsoft YaHei"/>
                <a:ea typeface="微软雅黑"/>
              </a:defRPr>
            </a:pPr>
            <a:r>
              <a:rPr sz="900" b="0">
                <a:solidFill>
                  <a:srgbClr val="788986"/>
                </a:solidFill>
                <a:latin typeface="Microsoft YaHei"/>
                <a:ea typeface="微软雅黑"/>
              </a:rPr>
              <a:t>多模态 AI 互动式教学智能体 · 教学课件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8096" cy="1060704"/>
          </a:xfrm>
          <a:prstGeom prst="rect">
            <a:avLst/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02336"/>
            <a:ext cx="95097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2900" b="1">
                <a:solidFill>
                  <a:srgbClr val="FFFFFF"/>
                </a:solidFill>
                <a:latin typeface="Microsoft YaHei"/>
                <a:ea typeface="微软雅黑"/>
              </a:rPr>
              <a:t>压力样本：对比表取满 5 列 6 行（续 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402336"/>
            <a:ext cx="822960" cy="40233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微软雅黑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98448"/>
            <a:ext cx="3291840" cy="4892040"/>
          </a:xfrm>
          <a:prstGeom prst="roundRect">
            <a:avLst>
              <a:gd name="adj" fmla="val 2314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39"/>
            <a:ext cx="277977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0B4F49"/>
                </a:solidFill>
                <a:latin typeface="Microsoft YaHei"/>
                <a:ea typeface="微软雅黑"/>
              </a:defRPr>
            </a:pPr>
            <a:r>
              <a:rPr sz="1500" b="1">
                <a:solidFill>
                  <a:srgbClr val="0B4F49"/>
                </a:solidFill>
                <a:latin typeface="Microsoft YaHei"/>
                <a:ea typeface="微软雅黑"/>
              </a:rPr>
              <a:t>核心要点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" y="1920240"/>
            <a:ext cx="2798064" cy="716280"/>
          </a:xfrm>
          <a:prstGeom prst="roundRect">
            <a:avLst>
              <a:gd name="adj" fmla="val 10638"/>
            </a:avLst>
          </a:prstGeom>
          <a:solidFill>
            <a:srgbClr val="EAF4F1"/>
          </a:solidFill>
          <a:ln w="9525">
            <a:solidFill>
              <a:srgbClr val="DF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3" y="1920240"/>
            <a:ext cx="2578608" cy="7162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7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700" b="0">
                <a:solidFill>
                  <a:srgbClr val="18322F"/>
                </a:solidFill>
                <a:latin typeface="Microsoft YaHei"/>
                <a:ea typeface="微软雅黑"/>
              </a:rPr>
              <a:t>· 稳定排序用于多关键字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" y="2731770"/>
            <a:ext cx="2798064" cy="424815"/>
          </a:xfrm>
          <a:prstGeom prst="roundRect">
            <a:avLst>
              <a:gd name="adj" fmla="val 17937"/>
            </a:avLst>
          </a:prstGeom>
          <a:solidFill>
            <a:srgbClr val="EAF4F1"/>
          </a:solidFill>
          <a:ln w="9525">
            <a:solidFill>
              <a:srgbClr val="DF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3" y="2731770"/>
            <a:ext cx="2578608" cy="424815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7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700" b="0">
                <a:solidFill>
                  <a:srgbClr val="18322F"/>
                </a:solidFill>
                <a:latin typeface="Microsoft YaHei"/>
                <a:ea typeface="微软雅黑"/>
              </a:rPr>
              <a:t>· 空间换时间要权衡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33087" y="1298448"/>
            <a:ext cx="7388352" cy="4892040"/>
          </a:xfrm>
          <a:prstGeom prst="roundRect">
            <a:avLst>
              <a:gd name="adj" fmla="val 1557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856231"/>
            <a:ext cx="6858000" cy="31318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4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400" b="0">
                <a:solidFill>
                  <a:srgbClr val="18322F"/>
                </a:solidFill>
                <a:latin typeface="Microsoft YaHei"/>
                <a:ea typeface="微软雅黑"/>
              </a:rPr>
              <a:t>• 空间换时间要权衡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28816"/>
            <a:ext cx="10863072" cy="10972"/>
          </a:xfrm>
          <a:prstGeom prst="rect">
            <a:avLst/>
          </a:prstGeom>
          <a:solidFill>
            <a:srgbClr val="7889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47548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900" b="0">
                <a:solidFill>
                  <a:srgbClr val="788986"/>
                </a:solidFill>
                <a:latin typeface="Microsoft YaHei"/>
                <a:ea typeface="微软雅黑"/>
              </a:defRPr>
            </a:pPr>
            <a:r>
              <a:rPr sz="900" b="0">
                <a:solidFill>
                  <a:srgbClr val="788986"/>
                </a:solidFill>
                <a:latin typeface="Microsoft YaHei"/>
                <a:ea typeface="微软雅黑"/>
              </a:rPr>
              <a:t>多模态 AI 互动式教学智能体 · 教学课件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8096" cy="1060704"/>
          </a:xfrm>
          <a:prstGeom prst="rect">
            <a:avLst/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02336"/>
            <a:ext cx="95097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3200" b="1">
                <a:solidFill>
                  <a:srgbClr val="FFFFFF"/>
                </a:solidFill>
                <a:latin typeface="Microsoft YaHei"/>
                <a:ea typeface="微软雅黑"/>
              </a:rPr>
              <a:t>压力样本：对比取满每侧 5 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402336"/>
            <a:ext cx="822960" cy="40233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微软雅黑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98448"/>
            <a:ext cx="3291840" cy="4892040"/>
          </a:xfrm>
          <a:prstGeom prst="roundRect">
            <a:avLst>
              <a:gd name="adj" fmla="val 2314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39"/>
            <a:ext cx="277977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0B4F49"/>
                </a:solidFill>
                <a:latin typeface="Microsoft YaHei"/>
                <a:ea typeface="微软雅黑"/>
              </a:defRPr>
            </a:pPr>
            <a:r>
              <a:rPr sz="1500" b="1">
                <a:solidFill>
                  <a:srgbClr val="0B4F49"/>
                </a:solidFill>
                <a:latin typeface="Microsoft YaHei"/>
                <a:ea typeface="微软雅黑"/>
              </a:rPr>
              <a:t>核心要点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" y="1920240"/>
            <a:ext cx="2798064" cy="424815"/>
          </a:xfrm>
          <a:prstGeom prst="roundRect">
            <a:avLst>
              <a:gd name="adj" fmla="val 17937"/>
            </a:avLst>
          </a:prstGeom>
          <a:solidFill>
            <a:srgbClr val="EAF4F1"/>
          </a:solidFill>
          <a:ln w="9525">
            <a:solidFill>
              <a:srgbClr val="DF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3" y="1920240"/>
            <a:ext cx="2578608" cy="424815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7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700" b="0">
                <a:solidFill>
                  <a:srgbClr val="18322F"/>
                </a:solidFill>
                <a:latin typeface="Microsoft YaHei"/>
                <a:ea typeface="微软雅黑"/>
              </a:rPr>
              <a:t>· 平均与最坏分开看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" y="2440305"/>
            <a:ext cx="2798064" cy="424815"/>
          </a:xfrm>
          <a:prstGeom prst="roundRect">
            <a:avLst>
              <a:gd name="adj" fmla="val 17937"/>
            </a:avLst>
          </a:prstGeom>
          <a:solidFill>
            <a:srgbClr val="EAF4F1"/>
          </a:solidFill>
          <a:ln w="9525">
            <a:solidFill>
              <a:srgbClr val="DF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3" y="2440305"/>
            <a:ext cx="2578608" cy="424815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7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700" b="0">
                <a:solidFill>
                  <a:srgbClr val="18322F"/>
                </a:solidFill>
                <a:latin typeface="Microsoft YaHei"/>
                <a:ea typeface="微软雅黑"/>
              </a:rPr>
              <a:t>· 空间开销常被忽略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33087" y="1298448"/>
            <a:ext cx="7388352" cy="2240280"/>
          </a:xfrm>
          <a:prstGeom prst="roundRect">
            <a:avLst>
              <a:gd name="adj" fmla="val 3401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13808" y="1542592"/>
            <a:ext cx="3327044" cy="1904695"/>
          </a:xfrm>
          <a:prstGeom prst="roundRect">
            <a:avLst>
              <a:gd name="adj" fmla="val 4000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13808" y="1542592"/>
            <a:ext cx="3327044" cy="342900"/>
          </a:xfrm>
          <a:prstGeom prst="rect">
            <a:avLst/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5248" y="1542592"/>
            <a:ext cx="3144164" cy="3429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  <a:ea typeface="微软雅黑"/>
              </a:rPr>
              <a:t>冒泡排序</a:t>
            </a:r>
          </a:p>
        </p:txBody>
      </p:sp>
      <p:sp>
        <p:nvSpPr>
          <p:cNvPr id="17" name="Oval 16"/>
          <p:cNvSpPr/>
          <p:nvPr/>
        </p:nvSpPr>
        <p:spPr>
          <a:xfrm>
            <a:off x="4551883" y="2068464"/>
            <a:ext cx="66751" cy="66751"/>
          </a:xfrm>
          <a:prstGeom prst="ellipse">
            <a:avLst/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0016" y="1961388"/>
            <a:ext cx="2924708" cy="28181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0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22F"/>
                </a:solidFill>
                <a:latin typeface="Microsoft YaHei"/>
                <a:ea typeface="微软雅黑"/>
              </a:rPr>
              <a:t>原地排序</a:t>
            </a:r>
          </a:p>
        </p:txBody>
      </p:sp>
      <p:sp>
        <p:nvSpPr>
          <p:cNvPr id="19" name="Oval 18"/>
          <p:cNvSpPr/>
          <p:nvPr/>
        </p:nvSpPr>
        <p:spPr>
          <a:xfrm>
            <a:off x="4551883" y="2350282"/>
            <a:ext cx="66751" cy="66751"/>
          </a:xfrm>
          <a:prstGeom prst="ellipse">
            <a:avLst/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0016" y="2243206"/>
            <a:ext cx="2924708" cy="28181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0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22F"/>
                </a:solidFill>
                <a:latin typeface="Microsoft YaHei"/>
                <a:ea typeface="微软雅黑"/>
              </a:rPr>
              <a:t>稳定</a:t>
            </a:r>
          </a:p>
        </p:txBody>
      </p:sp>
      <p:sp>
        <p:nvSpPr>
          <p:cNvPr id="21" name="Oval 20"/>
          <p:cNvSpPr/>
          <p:nvPr/>
        </p:nvSpPr>
        <p:spPr>
          <a:xfrm>
            <a:off x="4551883" y="2632100"/>
            <a:ext cx="66751" cy="66751"/>
          </a:xfrm>
          <a:prstGeom prst="ellipse">
            <a:avLst/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0016" y="2525024"/>
            <a:ext cx="2924708" cy="28181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0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22F"/>
                </a:solidFill>
                <a:latin typeface="Microsoft YaHei"/>
                <a:ea typeface="微软雅黑"/>
              </a:rPr>
              <a:t>平均 O(n²)</a:t>
            </a:r>
          </a:p>
        </p:txBody>
      </p:sp>
      <p:sp>
        <p:nvSpPr>
          <p:cNvPr id="23" name="Oval 22"/>
          <p:cNvSpPr/>
          <p:nvPr/>
        </p:nvSpPr>
        <p:spPr>
          <a:xfrm>
            <a:off x="4551883" y="2913918"/>
            <a:ext cx="66751" cy="66751"/>
          </a:xfrm>
          <a:prstGeom prst="ellipse">
            <a:avLst/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0016" y="2806842"/>
            <a:ext cx="2924708" cy="28181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0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22F"/>
                </a:solidFill>
                <a:latin typeface="Microsoft YaHei"/>
                <a:ea typeface="微软雅黑"/>
              </a:rPr>
              <a:t>最坏 O(n²)</a:t>
            </a:r>
          </a:p>
        </p:txBody>
      </p:sp>
      <p:sp>
        <p:nvSpPr>
          <p:cNvPr id="25" name="Oval 24"/>
          <p:cNvSpPr/>
          <p:nvPr/>
        </p:nvSpPr>
        <p:spPr>
          <a:xfrm>
            <a:off x="4551883" y="3195736"/>
            <a:ext cx="66751" cy="66751"/>
          </a:xfrm>
          <a:prstGeom prst="ellipse">
            <a:avLst/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0016" y="3088660"/>
            <a:ext cx="2924708" cy="28181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0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22F"/>
                </a:solidFill>
                <a:latin typeface="Microsoft YaHei"/>
                <a:ea typeface="微软雅黑"/>
              </a:rPr>
              <a:t>空间 O(1)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14589" y="1542592"/>
            <a:ext cx="3327044" cy="1904695"/>
          </a:xfrm>
          <a:prstGeom prst="roundRect">
            <a:avLst>
              <a:gd name="adj" fmla="val 4000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14589" y="1542592"/>
            <a:ext cx="3327044" cy="342900"/>
          </a:xfrm>
          <a:prstGeom prst="rect">
            <a:avLst/>
          </a:prstGeom>
          <a:solidFill>
            <a:srgbClr val="0B4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6029" y="1542592"/>
            <a:ext cx="3144164" cy="3429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  <a:ea typeface="微软雅黑"/>
              </a:rPr>
              <a:t>快速排序</a:t>
            </a:r>
          </a:p>
        </p:txBody>
      </p:sp>
      <p:sp>
        <p:nvSpPr>
          <p:cNvPr id="30" name="Oval 29"/>
          <p:cNvSpPr/>
          <p:nvPr/>
        </p:nvSpPr>
        <p:spPr>
          <a:xfrm>
            <a:off x="8052663" y="2068464"/>
            <a:ext cx="66751" cy="66751"/>
          </a:xfrm>
          <a:prstGeom prst="ellipse">
            <a:avLst/>
          </a:prstGeom>
          <a:solidFill>
            <a:srgbClr val="0B4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00796" y="1961388"/>
            <a:ext cx="2924708" cy="28181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0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22F"/>
                </a:solidFill>
                <a:latin typeface="Microsoft YaHei"/>
                <a:ea typeface="微软雅黑"/>
              </a:rPr>
              <a:t>递归划分</a:t>
            </a:r>
          </a:p>
        </p:txBody>
      </p:sp>
      <p:sp>
        <p:nvSpPr>
          <p:cNvPr id="32" name="Oval 31"/>
          <p:cNvSpPr/>
          <p:nvPr/>
        </p:nvSpPr>
        <p:spPr>
          <a:xfrm>
            <a:off x="8052663" y="2350282"/>
            <a:ext cx="66751" cy="66751"/>
          </a:xfrm>
          <a:prstGeom prst="ellipse">
            <a:avLst/>
          </a:prstGeom>
          <a:solidFill>
            <a:srgbClr val="0B4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00796" y="2243206"/>
            <a:ext cx="2924708" cy="28181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0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22F"/>
                </a:solidFill>
                <a:latin typeface="Microsoft YaHei"/>
                <a:ea typeface="微软雅黑"/>
              </a:rPr>
              <a:t>不稳定</a:t>
            </a:r>
          </a:p>
        </p:txBody>
      </p:sp>
      <p:sp>
        <p:nvSpPr>
          <p:cNvPr id="34" name="Oval 33"/>
          <p:cNvSpPr/>
          <p:nvPr/>
        </p:nvSpPr>
        <p:spPr>
          <a:xfrm>
            <a:off x="8052663" y="2632100"/>
            <a:ext cx="66751" cy="66751"/>
          </a:xfrm>
          <a:prstGeom prst="ellipse">
            <a:avLst/>
          </a:prstGeom>
          <a:solidFill>
            <a:srgbClr val="0B4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00796" y="2525024"/>
            <a:ext cx="2924708" cy="28181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0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22F"/>
                </a:solidFill>
                <a:latin typeface="Microsoft YaHei"/>
                <a:ea typeface="微软雅黑"/>
              </a:rPr>
              <a:t>平均 O(n log n)</a:t>
            </a:r>
          </a:p>
        </p:txBody>
      </p:sp>
      <p:sp>
        <p:nvSpPr>
          <p:cNvPr id="36" name="Oval 35"/>
          <p:cNvSpPr/>
          <p:nvPr/>
        </p:nvSpPr>
        <p:spPr>
          <a:xfrm>
            <a:off x="8052663" y="2913918"/>
            <a:ext cx="66751" cy="66751"/>
          </a:xfrm>
          <a:prstGeom prst="ellipse">
            <a:avLst/>
          </a:prstGeom>
          <a:solidFill>
            <a:srgbClr val="0B4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00796" y="2806842"/>
            <a:ext cx="2924708" cy="28181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0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22F"/>
                </a:solidFill>
                <a:latin typeface="Microsoft YaHei"/>
                <a:ea typeface="微软雅黑"/>
              </a:rPr>
              <a:t>最坏 O(n²)</a:t>
            </a:r>
          </a:p>
        </p:txBody>
      </p:sp>
      <p:sp>
        <p:nvSpPr>
          <p:cNvPr id="38" name="Oval 37"/>
          <p:cNvSpPr/>
          <p:nvPr/>
        </p:nvSpPr>
        <p:spPr>
          <a:xfrm>
            <a:off x="8052663" y="3195736"/>
            <a:ext cx="66751" cy="66751"/>
          </a:xfrm>
          <a:prstGeom prst="ellipse">
            <a:avLst/>
          </a:prstGeom>
          <a:solidFill>
            <a:srgbClr val="0B4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00796" y="3088660"/>
            <a:ext cx="2924708" cy="28181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0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22F"/>
                </a:solidFill>
                <a:latin typeface="Microsoft YaHei"/>
                <a:ea typeface="微软雅黑"/>
              </a:rPr>
              <a:t>空间 O(log n)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33087" y="3666744"/>
            <a:ext cx="7388352" cy="2523744"/>
          </a:xfrm>
          <a:prstGeom prst="roundRect">
            <a:avLst>
              <a:gd name="adj" fmla="val 3019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0" y="4224528"/>
            <a:ext cx="6858000" cy="330327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500" b="0">
                <a:solidFill>
                  <a:srgbClr val="18322F"/>
                </a:solidFill>
                <a:latin typeface="Microsoft YaHei"/>
                <a:ea typeface="微软雅黑"/>
              </a:rPr>
              <a:t>两侧条目都取上限，检查面板高度是否还容得下正文。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0" y="4628006"/>
            <a:ext cx="50292" cy="322326"/>
          </a:xfrm>
          <a:prstGeom prst="rect">
            <a:avLst/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4573143"/>
            <a:ext cx="6473952" cy="48691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2200" b="1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2200" b="1">
                <a:solidFill>
                  <a:srgbClr val="18322F"/>
                </a:solidFill>
                <a:latin typeface="Microsoft YaHei"/>
                <a:ea typeface="微软雅黑"/>
              </a:rPr>
              <a:t>条目越多，正文就越容易被挤到面板外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0" y="5133213"/>
            <a:ext cx="6858000" cy="31318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4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400" b="0">
                <a:solidFill>
                  <a:srgbClr val="18322F"/>
                </a:solidFill>
                <a:latin typeface="Microsoft YaHei"/>
                <a:ea typeface="微软雅黑"/>
              </a:rPr>
              <a:t>• 平均与最坏分开看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28816"/>
            <a:ext cx="10863072" cy="10972"/>
          </a:xfrm>
          <a:prstGeom prst="rect">
            <a:avLst/>
          </a:prstGeom>
          <a:solidFill>
            <a:srgbClr val="7889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47548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900" b="0">
                <a:solidFill>
                  <a:srgbClr val="788986"/>
                </a:solidFill>
                <a:latin typeface="Microsoft YaHei"/>
                <a:ea typeface="微软雅黑"/>
              </a:defRPr>
            </a:pPr>
            <a:r>
              <a:rPr sz="900" b="0">
                <a:solidFill>
                  <a:srgbClr val="788986"/>
                </a:solidFill>
                <a:latin typeface="Microsoft YaHei"/>
                <a:ea typeface="微软雅黑"/>
              </a:rPr>
              <a:t>多模态 AI 互动式教学智能体 · 教学课件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8096" cy="1060704"/>
          </a:xfrm>
          <a:prstGeom prst="rect">
            <a:avLst/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02336"/>
            <a:ext cx="95097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3200" b="1">
                <a:solidFill>
                  <a:srgbClr val="FFFFFF"/>
                </a:solidFill>
                <a:latin typeface="Microsoft YaHei"/>
                <a:ea typeface="微软雅黑"/>
              </a:rPr>
              <a:t>压力样本：对比取满每侧 5 条（续 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402336"/>
            <a:ext cx="822960" cy="40233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微软雅黑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98448"/>
            <a:ext cx="3291840" cy="4892040"/>
          </a:xfrm>
          <a:prstGeom prst="roundRect">
            <a:avLst>
              <a:gd name="adj" fmla="val 2314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39"/>
            <a:ext cx="277977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0B4F49"/>
                </a:solidFill>
                <a:latin typeface="Microsoft YaHei"/>
                <a:ea typeface="微软雅黑"/>
              </a:defRPr>
            </a:pPr>
            <a:r>
              <a:rPr sz="1500" b="1">
                <a:solidFill>
                  <a:srgbClr val="0B4F49"/>
                </a:solidFill>
                <a:latin typeface="Microsoft YaHei"/>
                <a:ea typeface="微软雅黑"/>
              </a:rPr>
              <a:t>核心要点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" y="1920240"/>
            <a:ext cx="2798064" cy="424815"/>
          </a:xfrm>
          <a:prstGeom prst="roundRect">
            <a:avLst>
              <a:gd name="adj" fmla="val 17937"/>
            </a:avLst>
          </a:prstGeom>
          <a:solidFill>
            <a:srgbClr val="EAF4F1"/>
          </a:solidFill>
          <a:ln w="9525">
            <a:solidFill>
              <a:srgbClr val="DF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3" y="1920240"/>
            <a:ext cx="2578608" cy="424815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7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700" b="0">
                <a:solidFill>
                  <a:srgbClr val="18322F"/>
                </a:solidFill>
                <a:latin typeface="Microsoft YaHei"/>
                <a:ea typeface="微软雅黑"/>
              </a:rPr>
              <a:t>· 平均与最坏分开看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" y="2440305"/>
            <a:ext cx="2798064" cy="424815"/>
          </a:xfrm>
          <a:prstGeom prst="roundRect">
            <a:avLst>
              <a:gd name="adj" fmla="val 17937"/>
            </a:avLst>
          </a:prstGeom>
          <a:solidFill>
            <a:srgbClr val="EAF4F1"/>
          </a:solidFill>
          <a:ln w="9525">
            <a:solidFill>
              <a:srgbClr val="DF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3" y="2440305"/>
            <a:ext cx="2578608" cy="424815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7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700" b="0">
                <a:solidFill>
                  <a:srgbClr val="18322F"/>
                </a:solidFill>
                <a:latin typeface="Microsoft YaHei"/>
                <a:ea typeface="微软雅黑"/>
              </a:rPr>
              <a:t>· 空间开销常被忽略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33087" y="1298448"/>
            <a:ext cx="7388352" cy="4892040"/>
          </a:xfrm>
          <a:prstGeom prst="roundRect">
            <a:avLst>
              <a:gd name="adj" fmla="val 1557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856231"/>
            <a:ext cx="6858000" cy="31318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4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400" b="0">
                <a:solidFill>
                  <a:srgbClr val="18322F"/>
                </a:solidFill>
                <a:latin typeface="Microsoft YaHei"/>
                <a:ea typeface="微软雅黑"/>
              </a:rPr>
              <a:t>• 空间开销常被忽略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28816"/>
            <a:ext cx="10863072" cy="10972"/>
          </a:xfrm>
          <a:prstGeom prst="rect">
            <a:avLst/>
          </a:prstGeom>
          <a:solidFill>
            <a:srgbClr val="7889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47548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900" b="0">
                <a:solidFill>
                  <a:srgbClr val="788986"/>
                </a:solidFill>
                <a:latin typeface="Microsoft YaHei"/>
                <a:ea typeface="微软雅黑"/>
              </a:defRPr>
            </a:pPr>
            <a:r>
              <a:rPr sz="900" b="0">
                <a:solidFill>
                  <a:srgbClr val="788986"/>
                </a:solidFill>
                <a:latin typeface="Microsoft YaHei"/>
                <a:ea typeface="微软雅黑"/>
              </a:rPr>
              <a:t>多模态 AI 互动式教学智能体 · 教学课件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8096" cy="1060704"/>
          </a:xfrm>
          <a:prstGeom prst="rect">
            <a:avLst/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02336"/>
            <a:ext cx="95097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3200" b="1">
                <a:solidFill>
                  <a:srgbClr val="FFFFFF"/>
                </a:solidFill>
                <a:latin typeface="Microsoft YaHei"/>
                <a:ea typeface="微软雅黑"/>
              </a:rPr>
              <a:t>对照页：这页不出图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402336"/>
            <a:ext cx="822960" cy="40233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微软雅黑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98448"/>
            <a:ext cx="3291840" cy="4892040"/>
          </a:xfrm>
          <a:prstGeom prst="roundRect">
            <a:avLst>
              <a:gd name="adj" fmla="val 2314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39"/>
            <a:ext cx="277977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0B4F49"/>
                </a:solidFill>
                <a:latin typeface="Microsoft YaHei"/>
                <a:ea typeface="微软雅黑"/>
              </a:defRPr>
            </a:pPr>
            <a:r>
              <a:rPr sz="1500" b="1">
                <a:solidFill>
                  <a:srgbClr val="0B4F49"/>
                </a:solidFill>
                <a:latin typeface="Microsoft YaHei"/>
                <a:ea typeface="微软雅黑"/>
              </a:rPr>
              <a:t>核心要点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" y="1920240"/>
            <a:ext cx="2798064" cy="424815"/>
          </a:xfrm>
          <a:prstGeom prst="roundRect">
            <a:avLst>
              <a:gd name="adj" fmla="val 17937"/>
            </a:avLst>
          </a:prstGeom>
          <a:solidFill>
            <a:srgbClr val="EAF4F1"/>
          </a:solidFill>
          <a:ln w="9525">
            <a:solidFill>
              <a:srgbClr val="DF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3" y="1920240"/>
            <a:ext cx="2578608" cy="424815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7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700" b="0">
                <a:solidFill>
                  <a:srgbClr val="18322F"/>
                </a:solidFill>
                <a:latin typeface="Microsoft YaHei"/>
                <a:ea typeface="微软雅黑"/>
              </a:rPr>
              <a:t>· 大 O 描述上界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" y="2440305"/>
            <a:ext cx="2798064" cy="716280"/>
          </a:xfrm>
          <a:prstGeom prst="roundRect">
            <a:avLst>
              <a:gd name="adj" fmla="val 10638"/>
            </a:avLst>
          </a:prstGeom>
          <a:solidFill>
            <a:srgbClr val="EAF4F1"/>
          </a:solidFill>
          <a:ln w="9525">
            <a:solidFill>
              <a:srgbClr val="DF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3" y="2440305"/>
            <a:ext cx="2578608" cy="7162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7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700" b="0">
                <a:solidFill>
                  <a:srgbClr val="18322F"/>
                </a:solidFill>
                <a:latin typeface="Microsoft YaHei"/>
                <a:ea typeface="微软雅黑"/>
              </a:rPr>
              <a:t>· 常数项在大规模下可忽略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33087" y="1298448"/>
            <a:ext cx="7388352" cy="4892040"/>
          </a:xfrm>
          <a:prstGeom prst="roundRect">
            <a:avLst>
              <a:gd name="adj" fmla="val 1557"/>
            </a:avLst>
          </a:prstGeom>
          <a:solidFill>
            <a:srgbClr val="D9EBE6"/>
          </a:solidFill>
          <a:ln w="9525">
            <a:solidFill>
              <a:srgbClr val="788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856231"/>
            <a:ext cx="6858000" cy="330327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500" b="0">
                <a:solidFill>
                  <a:srgbClr val="18322F"/>
                </a:solidFill>
                <a:latin typeface="Microsoft YaHei"/>
                <a:ea typeface="微软雅黑"/>
              </a:rPr>
              <a:t>定义是记忆性的，画出来只会是把要点重排一遍。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2259711"/>
            <a:ext cx="50292" cy="322326"/>
          </a:xfrm>
          <a:prstGeom prst="rect">
            <a:avLst/>
          </a:prstGeom>
          <a:solidFill>
            <a:srgbClr val="16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204847"/>
            <a:ext cx="6473952" cy="48691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2200" b="1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2200" b="1">
                <a:solidFill>
                  <a:srgbClr val="18322F"/>
                </a:solidFill>
                <a:latin typeface="Microsoft YaHei"/>
                <a:ea typeface="微软雅黑"/>
              </a:rPr>
              <a:t>复杂度的度量对象是增长趋势，不是秒数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764916"/>
            <a:ext cx="6858000" cy="31318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4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400" b="0">
                <a:solidFill>
                  <a:srgbClr val="18322F"/>
                </a:solidFill>
                <a:latin typeface="Microsoft YaHei"/>
                <a:ea typeface="微软雅黑"/>
              </a:rPr>
              <a:t>• 为什么不用耗时秒数：同一算法在不同机器上耗时不同，无法横向比较。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096386"/>
            <a:ext cx="6858000" cy="31318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4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400" b="0">
                <a:solidFill>
                  <a:srgbClr val="18322F"/>
                </a:solidFill>
                <a:latin typeface="Microsoft YaHei"/>
                <a:ea typeface="微软雅黑"/>
              </a:rPr>
              <a:t>• 为什么看增长趋势：它只与输入规模有关，与硬件无关。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427856"/>
            <a:ext cx="6858000" cy="31318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4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400" b="0">
                <a:solidFill>
                  <a:srgbClr val="18322F"/>
                </a:solidFill>
                <a:latin typeface="Microsoft YaHei"/>
                <a:ea typeface="微软雅黑"/>
              </a:rPr>
              <a:t>• 大 O 描述上界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759326"/>
            <a:ext cx="6858000" cy="31318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400" b="0">
                <a:solidFill>
                  <a:srgbClr val="18322F"/>
                </a:solidFill>
                <a:latin typeface="Microsoft YaHei"/>
                <a:ea typeface="微软雅黑"/>
              </a:defRPr>
            </a:pPr>
            <a:r>
              <a:rPr sz="1400" b="0">
                <a:solidFill>
                  <a:srgbClr val="18322F"/>
                </a:solidFill>
                <a:latin typeface="Microsoft YaHei"/>
                <a:ea typeface="微软雅黑"/>
              </a:rPr>
              <a:t>• 常数项在大规模下可忽略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图示渲染样本</dc:title>
  <dc:subject>多模态 AI 互动式教学课件</dc:subject>
  <dc:creator>多模态 AI 互动式教学智能体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