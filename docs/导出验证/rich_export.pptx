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6327648"/>
            <a:ext cx="11987784" cy="530352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-1234440"/>
            <a:ext cx="3383280" cy="3383280"/>
          </a:xfrm>
          <a:prstGeom prst="ellipse">
            <a:avLst/>
          </a:prstGeom>
          <a:solidFill>
            <a:srgbClr val="43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27080" y="4160520"/>
            <a:ext cx="2377440" cy="2377440"/>
          </a:xfrm>
          <a:prstGeom prst="ellipse">
            <a:avLst/>
          </a:prstGeom>
          <a:solidFill>
            <a:srgbClr val="5D9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868680" y="4892040"/>
            <a:ext cx="2103120" cy="2103120"/>
          </a:xfrm>
          <a:prstGeom prst="ellipse">
            <a:avLst/>
          </a:prstGeom>
          <a:solidFill>
            <a:srgbClr val="3A6B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13248" y="1572768"/>
            <a:ext cx="1371600" cy="6858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10268712" cy="1600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ctr">
              <a:defRPr sz="50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5000" b="1">
                <a:solidFill>
                  <a:srgbClr val="FFFFFF"/>
                </a:solidFill>
                <a:latin typeface="Microsoft YaHei"/>
                <a:ea typeface="微软雅黑"/>
              </a:rPr>
              <a:t>排序算法图文并茂课件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657600"/>
            <a:ext cx="9262872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2800" b="0">
                <a:solidFill>
                  <a:srgbClr val="FFFFFF"/>
                </a:solidFill>
                <a:latin typeface="Microsoft YaHei"/>
                <a:ea typeface="微软雅黑"/>
              </a:rPr>
              <a:t>AI 智能生成课件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4681728"/>
            <a:ext cx="1371600" cy="45720"/>
          </a:xfrm>
          <a:prstGeom prst="rect">
            <a:avLst/>
          </a:prstGeom>
          <a:solidFill>
            <a:srgbClr val="EEB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5660136"/>
            <a:ext cx="3108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通用教学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8096" cy="4572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"/>
            <a:ext cx="29260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目录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5074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700784"/>
            <a:ext cx="457200" cy="457200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73936"/>
            <a:ext cx="4572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1912" y="1691640"/>
            <a:ext cx="4069079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冒泡排序的执行流程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63040"/>
            <a:ext cx="5074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1700784"/>
            <a:ext cx="457200" cy="457200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773936"/>
            <a:ext cx="4572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691640"/>
            <a:ext cx="4069079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排序算法性能对比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615184"/>
            <a:ext cx="5074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2852928"/>
            <a:ext cx="457200" cy="457200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926080"/>
            <a:ext cx="4572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2843784"/>
            <a:ext cx="4069079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本章学习目标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615184"/>
            <a:ext cx="5074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2852928"/>
            <a:ext cx="457200" cy="457200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926080"/>
            <a:ext cx="4572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2843784"/>
            <a:ext cx="4069079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本章小结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8096" cy="4572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"/>
            <a:ext cx="29260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冒泡排序的执行流程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1280160" cy="310896"/>
          </a:xfrm>
          <a:prstGeom prst="round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35024"/>
            <a:ext cx="12801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流程图示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73936"/>
            <a:ext cx="242773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25930" y="1865376"/>
            <a:ext cx="292608" cy="292608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25930" y="1901952"/>
            <a:ext cx="29260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231136"/>
            <a:ext cx="2208276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042"/>
                </a:solidFill>
                <a:latin typeface="Microsoft YaHei"/>
                <a:ea typeface="微软雅黑"/>
              </a:rPr>
              <a:t>比较相邻两个元素，如果顺序错误就交换它们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6100" y="2103120"/>
            <a:ext cx="384048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2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2000" b="1">
                <a:solidFill>
                  <a:srgbClr val="E89B52"/>
                </a:solidFill>
                <a:latin typeface="Microsoft YaHei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0148" y="1773936"/>
            <a:ext cx="242773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37710" y="1865376"/>
            <a:ext cx="292608" cy="292608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7710" y="1901952"/>
            <a:ext cx="29260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9876" y="2231136"/>
            <a:ext cx="2208276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042"/>
                </a:solidFill>
                <a:latin typeface="Microsoft YaHei"/>
                <a:ea typeface="微软雅黑"/>
              </a:rPr>
              <a:t>对每一对相邻元素重复这一比较，直到这一轮结束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103120"/>
            <a:ext cx="384048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2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2000" b="1">
                <a:solidFill>
                  <a:srgbClr val="E89B52"/>
                </a:solidFill>
                <a:latin typeface="Microsoft YaHei"/>
                <a:ea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1773936"/>
            <a:ext cx="242773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49490" y="1865376"/>
            <a:ext cx="292608" cy="292608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49490" y="1901952"/>
            <a:ext cx="29260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231136"/>
            <a:ext cx="2208276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042"/>
                </a:solidFill>
                <a:latin typeface="Microsoft YaHei"/>
                <a:ea typeface="微软雅黑"/>
              </a:rPr>
              <a:t>每完成一轮，最大的元素就移动到了序列末尾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9660" y="2103120"/>
            <a:ext cx="384048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2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2000" b="1">
                <a:solidFill>
                  <a:srgbClr val="E89B52"/>
                </a:solidFill>
                <a:latin typeface="Microsoft YaHei"/>
                <a:ea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3708" y="1773936"/>
            <a:ext cx="2427732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61270" y="1865376"/>
            <a:ext cx="292608" cy="292608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1270" y="1901952"/>
            <a:ext cx="29260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3436" y="2231136"/>
            <a:ext cx="2208276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0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000" b="0">
                <a:solidFill>
                  <a:srgbClr val="183042"/>
                </a:solidFill>
                <a:latin typeface="Microsoft YaHei"/>
                <a:ea typeface="微软雅黑"/>
              </a:rPr>
              <a:t>重复上述步骤，直到某一次遍历中没有发生任何交换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072384"/>
            <a:ext cx="10863072" cy="3118103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236976"/>
            <a:ext cx="1035100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3694176"/>
            <a:ext cx="10369296" cy="2295143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正文｜首先，比较相邻两个元素，如果顺序错误就交换它们。然后，对每一对相邻元素重复这一比较，直到这一轮结束。接着，每完成一轮，最大的元素就移动到了序列末尾。最后，重复上述步骤，直到某一次遍历中没有发生任何交换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要点｜每轮确定一个最大值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要点｜有序区间从尾部向前增长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8096" cy="4572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"/>
            <a:ext cx="29260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排序算法性能对比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1280160" cy="310896"/>
          </a:xfrm>
          <a:prstGeom prst="round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35024"/>
            <a:ext cx="1280160" cy="25603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数据对比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01368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2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200" b="0">
                <a:solidFill>
                  <a:srgbClr val="183042"/>
                </a:solidFill>
                <a:latin typeface="Microsoft YaHei"/>
                <a:ea typeface="微软雅黑"/>
              </a:rPr>
              <a:t>速排序平均耗时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828800"/>
            <a:ext cx="1125415" cy="310896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2663" y="1819656"/>
            <a:ext cx="128016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3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300" b="1">
                <a:solidFill>
                  <a:srgbClr val="183042"/>
                </a:solidFill>
                <a:latin typeface="Microsoft YaHei"/>
                <a:ea typeface="微软雅黑"/>
              </a:rPr>
              <a:t>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04288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2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200" b="0">
                <a:solidFill>
                  <a:srgbClr val="183042"/>
                </a:solidFill>
                <a:latin typeface="Microsoft YaHei"/>
                <a:ea typeface="微软雅黑"/>
              </a:rPr>
              <a:t>，插入排序耗时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331720"/>
            <a:ext cx="4220307" cy="310896"/>
          </a:xfrm>
          <a:prstGeom prst="rect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7555" y="2322576"/>
            <a:ext cx="128016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3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300" b="1">
                <a:solidFill>
                  <a:srgbClr val="183042"/>
                </a:solidFill>
                <a:latin typeface="Microsoft YaHei"/>
                <a:ea typeface="微软雅黑"/>
              </a:rPr>
              <a:t>45%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07208"/>
            <a:ext cx="21945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2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200" b="0">
                <a:solidFill>
                  <a:srgbClr val="183042"/>
                </a:solidFill>
                <a:latin typeface="Microsoft YaHei"/>
                <a:ea typeface="微软雅黑"/>
              </a:rPr>
              <a:t>，冒泡排序耗时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834640"/>
            <a:ext cx="7315200" cy="310896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2448" y="2825496"/>
            <a:ext cx="128016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300" b="1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300" b="1">
                <a:solidFill>
                  <a:srgbClr val="183042"/>
                </a:solidFill>
                <a:latin typeface="Microsoft YaHei"/>
                <a:ea typeface="微软雅黑"/>
              </a:rPr>
              <a:t>78%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38728"/>
            <a:ext cx="10863072" cy="2651759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03320"/>
            <a:ext cx="1035100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60520"/>
            <a:ext cx="10369296" cy="182879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正文｜在随机数据测试中，快速排序平均耗时 12%，插入排序耗时 45%，冒泡排序耗时 78%，差距随数据规模进一步拉大。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8096" cy="4572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"/>
            <a:ext cx="29260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本章学习目标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73936"/>
            <a:ext cx="10863072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865376"/>
            <a:ext cx="292608" cy="292608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29260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865376"/>
            <a:ext cx="99669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3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300" b="0">
                <a:solidFill>
                  <a:srgbClr val="183042"/>
                </a:solidFill>
                <a:latin typeface="Microsoft YaHei"/>
                <a:ea typeface="微软雅黑"/>
              </a:rPr>
              <a:t>理解冒泡排序的基本思想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340864"/>
            <a:ext cx="10863072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9536" y="2432304"/>
            <a:ext cx="292608" cy="292608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468880"/>
            <a:ext cx="29260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432304"/>
            <a:ext cx="99669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3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300" b="0">
                <a:solidFill>
                  <a:srgbClr val="183042"/>
                </a:solidFill>
                <a:latin typeface="Microsoft YaHei"/>
                <a:ea typeface="微软雅黑"/>
              </a:rPr>
              <a:t>掌握快排的分治策略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907792"/>
            <a:ext cx="10863072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" y="2999232"/>
            <a:ext cx="292608" cy="292608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035808"/>
            <a:ext cx="29260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999232"/>
            <a:ext cx="99669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3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300" b="0">
                <a:solidFill>
                  <a:srgbClr val="183042"/>
                </a:solidFill>
                <a:latin typeface="Microsoft YaHei"/>
                <a:ea typeface="微软雅黑"/>
              </a:rPr>
              <a:t>能分析平均与最坏复杂度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74720"/>
            <a:ext cx="10863072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" y="3566160"/>
            <a:ext cx="292608" cy="292608"/>
          </a:xfrm>
          <a:prstGeom prst="ellipse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602736"/>
            <a:ext cx="292608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566160"/>
            <a:ext cx="996696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3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300" b="0">
                <a:solidFill>
                  <a:srgbClr val="183042"/>
                </a:solidFill>
                <a:latin typeface="Microsoft YaHei"/>
                <a:ea typeface="微软雅黑"/>
              </a:rPr>
              <a:t>学会按场景选择排序算法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187952"/>
            <a:ext cx="10863072" cy="2002535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52544"/>
            <a:ext cx="1035100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  <a:ea typeface="微软雅黑"/>
              </a:defRPr>
            </a:pPr>
            <a:r>
              <a:rPr sz="1500" b="1">
                <a:solidFill>
                  <a:srgbClr val="2F7E83"/>
                </a:solidFill>
                <a:latin typeface="Microsoft YaHei"/>
                <a:ea typeface="微软雅黑"/>
              </a:rPr>
              <a:t>教学内容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809744"/>
            <a:ext cx="10369296" cy="1179575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正文｜围绕以下四个学习目标展开本节课的学习与练习。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要点｜理解冒泡排序的基本思想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要点｜掌握快排的分治策略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要点｜能分析平均与最坏复杂度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800">
                <a:solidFill>
                  <a:srgbClr val="183042"/>
                </a:solidFill>
                <a:latin typeface="Microsoft YaHei"/>
                <a:ea typeface="微软雅黑"/>
              </a:rPr>
              <a:t>• 要点｜学会按场景选择排序算法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D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28816"/>
            <a:ext cx="10863072" cy="10972"/>
          </a:xfrm>
          <a:prstGeom prst="rect">
            <a:avLst/>
          </a:prstGeom>
          <a:solidFill>
            <a:srgbClr val="627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0"/>
            <a:ext cx="47548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900" b="0">
                <a:solidFill>
                  <a:srgbClr val="627987"/>
                </a:solidFill>
                <a:latin typeface="Microsoft YaHei"/>
                <a:ea typeface="微软雅黑"/>
              </a:defRPr>
            </a:pPr>
            <a:r>
              <a:rPr sz="900" b="0">
                <a:solidFill>
                  <a:srgbClr val="627987"/>
                </a:solidFill>
                <a:latin typeface="Microsoft YaHei"/>
                <a:ea typeface="微软雅黑"/>
              </a:rPr>
              <a:t>多模态 AI 互动式教学智能体 · 教学课件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8096" cy="1060704"/>
          </a:xfrm>
          <a:prstGeom prst="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60704"/>
            <a:ext cx="12198096" cy="4572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"/>
            <a:ext cx="2926080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  <a:ea typeface="微软雅黑"/>
              </a:defRPr>
            </a:pPr>
            <a:r>
              <a:rPr sz="1000" b="1">
                <a:solidFill>
                  <a:srgbClr val="E89B52"/>
                </a:solidFill>
                <a:latin typeface="Microsoft YaHei"/>
                <a:ea typeface="微软雅黑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2336"/>
            <a:ext cx="95097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3200" b="1">
                <a:solidFill>
                  <a:srgbClr val="FFFFFF"/>
                </a:solidFill>
                <a:latin typeface="Microsoft YaHei"/>
                <a:ea typeface="微软雅黑"/>
              </a:rPr>
              <a:t>本章小结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402336"/>
            <a:ext cx="822960" cy="40233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1086307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655064"/>
            <a:ext cx="365760" cy="365760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36576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1627632"/>
            <a:ext cx="97840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冒泡简单但复杂度高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304288"/>
            <a:ext cx="1086307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2478024"/>
            <a:ext cx="365760" cy="365760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36576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17904" y="2450592"/>
            <a:ext cx="97840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快排分治平均高效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127248"/>
            <a:ext cx="10863072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300984"/>
            <a:ext cx="365760" cy="365760"/>
          </a:xfrm>
          <a:prstGeom prst="ellipse">
            <a:avLst/>
          </a:prstGeom>
          <a:solidFill>
            <a:srgbClr val="2F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46704"/>
            <a:ext cx="36576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17904" y="3273552"/>
            <a:ext cx="97840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1900" b="0">
                <a:solidFill>
                  <a:srgbClr val="183042"/>
                </a:solidFill>
                <a:latin typeface="Microsoft YaHei"/>
                <a:ea typeface="微软雅黑"/>
              </a:defRPr>
            </a:pPr>
            <a:r>
              <a:rPr sz="1900" b="0">
                <a:solidFill>
                  <a:srgbClr val="183042"/>
                </a:solidFill>
                <a:latin typeface="Microsoft YaHei"/>
                <a:ea typeface="微软雅黑"/>
              </a:rPr>
              <a:t>稳定性影响工程选型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669280"/>
            <a:ext cx="10863072" cy="548640"/>
          </a:xfrm>
          <a:prstGeom prst="roundRect">
            <a:avLst/>
          </a:prstGeom>
          <a:solidFill>
            <a:srgbClr val="24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779008"/>
            <a:ext cx="10863072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微软雅黑"/>
              </a:rPr>
              <a:t>感谢聆听 · 本节内容到此结束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-1097280"/>
            <a:ext cx="3017520" cy="3017520"/>
          </a:xfrm>
          <a:prstGeom prst="ellipse">
            <a:avLst/>
          </a:prstGeom>
          <a:solidFill>
            <a:srgbClr val="437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754880"/>
            <a:ext cx="2377440" cy="2377440"/>
          </a:xfrm>
          <a:prstGeom prst="ellipse">
            <a:avLst/>
          </a:prstGeom>
          <a:solidFill>
            <a:srgbClr val="599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13248" y="2240280"/>
            <a:ext cx="1371600" cy="68580"/>
          </a:xfrm>
          <a:prstGeom prst="rect">
            <a:avLst/>
          </a:prstGeom>
          <a:solidFill>
            <a:srgbClr val="E89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06040"/>
            <a:ext cx="1026871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4400" b="1">
                <a:solidFill>
                  <a:srgbClr val="FFFFFF"/>
                </a:solidFill>
                <a:latin typeface="Microsoft YaHei"/>
                <a:ea typeface="微软雅黑"/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931920"/>
            <a:ext cx="9262872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  <a:ea typeface="微软雅黑"/>
              </a:defRPr>
            </a:pPr>
            <a:r>
              <a:rPr sz="1600" b="0">
                <a:solidFill>
                  <a:srgbClr val="FFFFFF"/>
                </a:solidFill>
                <a:latin typeface="Microsoft YaHei"/>
                <a:ea typeface="微软雅黑"/>
              </a:rPr>
              <a:t>多模态 AI 互动式教学智能体 · 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排序算法图文并茂课件</dc:title>
  <dc:subject>多模态 AI 互动式教学课件</dc:subject>
  <dc:creator>多模态 AI 互动式教学智能体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