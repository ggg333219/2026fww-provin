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B9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0312" y="6327648"/>
            <a:ext cx="11978640" cy="530352"/>
          </a:xfrm>
          <a:prstGeom prst="rect">
            <a:avLst/>
          </a:prstGeom>
          <a:solidFill>
            <a:srgbClr val="315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965960"/>
            <a:ext cx="10149840" cy="1508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noAutofit/>
          </a:bodyPr>
          <a:lstStyle/>
          <a:p>
            <a:pPr algn="l">
              <a:defRPr sz="5000" b="1">
                <a:solidFill>
                  <a:srgbClr val="FFFFFF"/>
                </a:solidFill>
                <a:latin typeface="Microsoft YaHei"/>
              </a:defRPr>
            </a:pPr>
            <a:r>
              <a:t>课程主题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703320"/>
            <a:ext cx="896112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SimSun"/>
              </a:defRPr>
            </a:pPr>
            <a:r>
              <a:t>授课对象 · 课时 · 教学目标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660136"/>
            <a:ext cx="31089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学术教学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67284"/>
                </a:solidFill>
                <a:latin typeface="SimSun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B9975B"/>
                </a:solidFill>
                <a:latin typeface="Microsoft YaHe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7263B"/>
                </a:solidFill>
                <a:latin typeface="Microsoft YaHei"/>
              </a:defRPr>
            </a:pPr>
            <a:r>
              <a:t>课程目录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315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B9975B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399032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7263B"/>
                </a:solidFill>
                <a:latin typeface="SimSun"/>
              </a:defRPr>
            </a:pPr>
            <a:r>
              <a:t>课程导入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911095"/>
            <a:ext cx="9098280" cy="10972"/>
          </a:xfrm>
          <a:prstGeom prst="rect">
            <a:avLst/>
          </a:prstGeom>
          <a:solidFill>
            <a:srgbClr val="6672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21408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B9975B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03120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7263B"/>
                </a:solidFill>
                <a:latin typeface="SimSun"/>
              </a:defRPr>
            </a:pPr>
            <a:r>
              <a:t>核心概念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615184"/>
            <a:ext cx="9098280" cy="10972"/>
          </a:xfrm>
          <a:prstGeom prst="rect">
            <a:avLst/>
          </a:prstGeom>
          <a:solidFill>
            <a:srgbClr val="6672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25496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B9975B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807208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7263B"/>
                </a:solidFill>
                <a:latin typeface="SimSun"/>
              </a:defRPr>
            </a:pPr>
            <a:r>
              <a:t>案例实践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3319272"/>
            <a:ext cx="9098280" cy="10972"/>
          </a:xfrm>
          <a:prstGeom prst="rect">
            <a:avLst/>
          </a:prstGeom>
          <a:solidFill>
            <a:srgbClr val="6672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29584"/>
            <a:ext cx="640080" cy="43891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900" b="1">
                <a:solidFill>
                  <a:srgbClr val="B9975B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511296"/>
            <a:ext cx="937260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7263B"/>
                </a:solidFill>
                <a:latin typeface="SimSun"/>
              </a:defRPr>
            </a:pPr>
            <a:r>
              <a:t>总结提升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4023360"/>
            <a:ext cx="9098280" cy="10972"/>
          </a:xfrm>
          <a:prstGeom prst="rect">
            <a:avLst/>
          </a:prstGeom>
          <a:solidFill>
            <a:srgbClr val="6672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67284"/>
                </a:solidFill>
                <a:latin typeface="SimSun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B9975B"/>
                </a:solidFill>
                <a:latin typeface="Microsoft YaHei"/>
              </a:defRPr>
            </a:pPr>
            <a:r>
              <a:t>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7263B"/>
                </a:solidFill>
                <a:latin typeface="Microsoft YaHei"/>
              </a:defRPr>
            </a:pPr>
            <a:r>
              <a:t>核心内容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315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5358384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6672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39"/>
            <a:ext cx="48463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315B7D"/>
                </a:solidFill>
                <a:latin typeface="Microsoft YaHei"/>
              </a:defRPr>
            </a:pPr>
            <a:r>
              <a:t>教学内容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1920240"/>
            <a:ext cx="4864608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7263B"/>
                </a:solidFill>
                <a:latin typeface="SimSun"/>
              </a:defRPr>
            </a:pPr>
            <a:r>
              <a:t>正文｜在这里填写本页的关键概念、方法或案例。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7263B"/>
                </a:solidFill>
                <a:latin typeface="SimSun"/>
              </a:defRPr>
            </a:pPr>
            <a:r>
              <a:t>• 要点｜教学要点一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7263B"/>
                </a:solidFill>
                <a:latin typeface="SimSun"/>
              </a:defRPr>
            </a:pPr>
            <a:r>
              <a:t>• 要点｜教学要点二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298448"/>
            <a:ext cx="5321808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6672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463039"/>
            <a:ext cx="4809744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500" b="1">
                <a:solidFill>
                  <a:srgbClr val="315B7D"/>
                </a:solidFill>
                <a:latin typeface="Microsoft YaHei"/>
              </a:defRPr>
            </a:pPr>
            <a:r>
              <a:t>讲授分段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920240"/>
            <a:ext cx="4828032" cy="4069079"/>
          </a:xfrm>
          <a:prstGeom prst="rect">
            <a:avLst/>
          </a:prstGeom>
          <a:noFill/>
        </p:spPr>
        <p:txBody>
          <a:bodyPr wrap="square" lIns="27432" rIns="27432" tIns="18288" bIns="18288">
            <a:noAutofit/>
          </a:bodyPr>
          <a:lstStyle/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7263B"/>
                </a:solidFill>
                <a:latin typeface="SimSun"/>
              </a:defRPr>
            </a:pPr>
            <a:r>
              <a:t>导入 · 30秒｜用问题或场景引入本页。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7263B"/>
                </a:solidFill>
                <a:latin typeface="SimSun"/>
              </a:defRPr>
            </a:pPr>
            <a:r>
              <a:t>讲解 · 1分30秒｜讲清概念，并连接学生已有知识。</a:t>
            </a:r>
          </a:p>
          <a:p>
            <a:pPr>
              <a:lnSpc>
                <a:spcPct val="113000"/>
              </a:lnSpc>
              <a:spcAft>
                <a:spcPts val="700"/>
              </a:spcAft>
              <a:defRPr sz="1800">
                <a:solidFill>
                  <a:srgbClr val="17263B"/>
                </a:solidFill>
                <a:latin typeface="SimSun"/>
              </a:defRPr>
            </a:pPr>
            <a:r>
              <a:t>互动 · 45秒｜设置一个可现场回应的问题。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46520"/>
            <a:ext cx="411480" cy="20116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r">
              <a:defRPr sz="900" b="0">
                <a:solidFill>
                  <a:srgbClr val="667284"/>
                </a:solidFill>
                <a:latin typeface="SimSun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2011680" cy="219456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1000" b="1">
                <a:solidFill>
                  <a:srgbClr val="B9975B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744200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3400" b="1">
                <a:solidFill>
                  <a:srgbClr val="17263B"/>
                </a:solidFill>
                <a:latin typeface="Microsoft YaHei"/>
              </a:defRPr>
            </a:pPr>
            <a:r>
              <a:t>本节小结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161288"/>
            <a:ext cx="10863072" cy="18288"/>
          </a:xfrm>
          <a:prstGeom prst="rect">
            <a:avLst/>
          </a:prstGeom>
          <a:solidFill>
            <a:srgbClr val="315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353312"/>
            <a:ext cx="82296" cy="4709160"/>
          </a:xfrm>
          <a:prstGeom prst="rect">
            <a:avLst/>
          </a:prstGeom>
          <a:solidFill>
            <a:srgbClr val="B997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" y="1600200"/>
            <a:ext cx="164592" cy="164592"/>
          </a:xfrm>
          <a:prstGeom prst="ellipse">
            <a:avLst/>
          </a:prstGeom>
          <a:solidFill>
            <a:srgbClr val="315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89888" y="1481328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7263B"/>
                </a:solidFill>
                <a:latin typeface="SimSun"/>
              </a:defRPr>
            </a:pPr>
            <a:r>
              <a:t>回顾核心结论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2313432"/>
            <a:ext cx="164592" cy="164592"/>
          </a:xfrm>
          <a:prstGeom prst="ellipse">
            <a:avLst/>
          </a:prstGeom>
          <a:solidFill>
            <a:srgbClr val="315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194560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7263B"/>
                </a:solidFill>
                <a:latin typeface="SimSun"/>
              </a:defRPr>
            </a:pPr>
            <a:r>
              <a:t>检查学习目标</a:t>
            </a:r>
          </a:p>
        </p:txBody>
      </p:sp>
      <p:sp>
        <p:nvSpPr>
          <p:cNvPr id="11" name="Oval 10"/>
          <p:cNvSpPr/>
          <p:nvPr/>
        </p:nvSpPr>
        <p:spPr>
          <a:xfrm>
            <a:off x="987552" y="3026664"/>
            <a:ext cx="164592" cy="164592"/>
          </a:xfrm>
          <a:prstGeom prst="ellipse">
            <a:avLst/>
          </a:prstGeom>
          <a:solidFill>
            <a:srgbClr val="315B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2907792"/>
            <a:ext cx="9555480" cy="612648"/>
          </a:xfrm>
          <a:prstGeom prst="rect">
            <a:avLst/>
          </a:prstGeom>
          <a:noFill/>
        </p:spPr>
        <p:txBody>
          <a:bodyPr wrap="square" anchor="t" lIns="18288" rIns="18288" tIns="9144" bIns="9144">
            <a:noAutofit/>
          </a:bodyPr>
          <a:lstStyle/>
          <a:p>
            <a:pPr algn="l">
              <a:defRPr sz="2500" b="0">
                <a:solidFill>
                  <a:srgbClr val="17263B"/>
                </a:solidFill>
                <a:latin typeface="SimSun"/>
              </a:defRPr>
            </a:pPr>
            <a:r>
              <a:t>说明课后应用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教学课件模板</dc:title>
  <dc:subject>多模态 AI 互动式教学课件</dc:subject>
  <dc:creator>多模态 AI 互动式教学智能体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