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5B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E89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0312" y="6327648"/>
            <a:ext cx="11978640" cy="530352"/>
          </a:xfrm>
          <a:prstGeom prst="rect">
            <a:avLst/>
          </a:prstGeom>
          <a:solidFill>
            <a:srgbClr val="2F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965960"/>
            <a:ext cx="10149840" cy="1508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5000" b="1">
                <a:solidFill>
                  <a:srgbClr val="FFFFFF"/>
                </a:solidFill>
                <a:latin typeface="Microsoft YaHei"/>
              </a:defRPr>
            </a:pPr>
            <a:r>
              <a:t>AI 互动式教学兼容验证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3703320"/>
            <a:ext cx="8961120" cy="8686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Office / WPS · 可编辑 PPTX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5660136"/>
            <a:ext cx="3108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通用教学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900" b="0">
                <a:solidFill>
                  <a:srgbClr val="627987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2011680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000" b="1">
                <a:solidFill>
                  <a:srgbClr val="E89B52"/>
                </a:solidFill>
                <a:latin typeface="Microsoft YaHe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744200" cy="51206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400" b="1">
                <a:solidFill>
                  <a:srgbClr val="183042"/>
                </a:solidFill>
                <a:latin typeface="Microsoft YaHei"/>
              </a:defRPr>
            </a:pPr>
            <a:r>
              <a:t>验证目录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61288"/>
            <a:ext cx="10863072" cy="18288"/>
          </a:xfrm>
          <a:prstGeom prst="rect">
            <a:avLst/>
          </a:prstGeom>
          <a:solidFill>
            <a:srgbClr val="2F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64008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900" b="1">
                <a:solidFill>
                  <a:srgbClr val="E89B52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399032"/>
            <a:ext cx="937260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2500" b="0">
                <a:solidFill>
                  <a:srgbClr val="183042"/>
                </a:solidFill>
                <a:latin typeface="Microsoft YaHei"/>
              </a:defRPr>
            </a:pPr>
            <a:r>
              <a:t>中文字体与标点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1691640" y="1911095"/>
            <a:ext cx="9098280" cy="10972"/>
          </a:xfrm>
          <a:prstGeom prst="rect">
            <a:avLst/>
          </a:prstGeom>
          <a:solidFill>
            <a:srgbClr val="627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21408"/>
            <a:ext cx="64008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900" b="1">
                <a:solidFill>
                  <a:srgbClr val="E89B52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103120"/>
            <a:ext cx="937260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2500" b="0">
                <a:solidFill>
                  <a:srgbClr val="183042"/>
                </a:solidFill>
                <a:latin typeface="Microsoft YaHei"/>
              </a:defRPr>
            </a:pPr>
            <a:r>
              <a:t>结构化要点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91640" y="2615184"/>
            <a:ext cx="9098280" cy="10972"/>
          </a:xfrm>
          <a:prstGeom prst="rect">
            <a:avLst/>
          </a:prstGeom>
          <a:solidFill>
            <a:srgbClr val="627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825496"/>
            <a:ext cx="64008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900" b="1">
                <a:solidFill>
                  <a:srgbClr val="E89B52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807208"/>
            <a:ext cx="937260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2500" b="0">
                <a:solidFill>
                  <a:srgbClr val="183042"/>
                </a:solidFill>
                <a:latin typeface="Microsoft YaHei"/>
              </a:defRPr>
            </a:pPr>
            <a:r>
              <a:t>讲授分段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91640" y="3319272"/>
            <a:ext cx="9098280" cy="10972"/>
          </a:xfrm>
          <a:prstGeom prst="rect">
            <a:avLst/>
          </a:prstGeom>
          <a:solidFill>
            <a:srgbClr val="627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29584"/>
            <a:ext cx="64008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900" b="1">
                <a:solidFill>
                  <a:srgbClr val="E89B52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511296"/>
            <a:ext cx="937260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2500" b="0">
                <a:solidFill>
                  <a:srgbClr val="183042"/>
                </a:solidFill>
                <a:latin typeface="Microsoft YaHei"/>
              </a:defRPr>
            </a:pPr>
            <a:r>
              <a:t>双栏版式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91640" y="4023360"/>
            <a:ext cx="9098280" cy="10972"/>
          </a:xfrm>
          <a:prstGeom prst="rect">
            <a:avLst/>
          </a:prstGeom>
          <a:solidFill>
            <a:srgbClr val="627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233672"/>
            <a:ext cx="64008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900" b="1">
                <a:solidFill>
                  <a:srgbClr val="E89B52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215384"/>
            <a:ext cx="937260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2500" b="0">
                <a:solidFill>
                  <a:srgbClr val="183042"/>
                </a:solidFill>
                <a:latin typeface="Microsoft YaHei"/>
              </a:defRPr>
            </a:pPr>
            <a:r>
              <a:t>互动与总结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91640" y="4727448"/>
            <a:ext cx="9098280" cy="10972"/>
          </a:xfrm>
          <a:prstGeom prst="rect">
            <a:avLst/>
          </a:prstGeom>
          <a:solidFill>
            <a:srgbClr val="627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900" b="0">
                <a:solidFill>
                  <a:srgbClr val="627987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245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0" y="0"/>
            <a:ext cx="109728" cy="6858000"/>
          </a:xfrm>
          <a:prstGeom prst="rect">
            <a:avLst/>
          </a:prstGeom>
          <a:solidFill>
            <a:srgbClr val="E89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210312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46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6280" y="2057400"/>
            <a:ext cx="6812280" cy="15544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4200" b="1">
                <a:solidFill>
                  <a:srgbClr val="183042"/>
                </a:solidFill>
                <a:latin typeface="Microsoft YaHei"/>
              </a:defRPr>
            </a:pPr>
            <a:r>
              <a:t>第一章｜课堂生成链路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3794760"/>
            <a:ext cx="63093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2300" b="0">
                <a:solidFill>
                  <a:srgbClr val="627987"/>
                </a:solidFill>
                <a:latin typeface="Microsoft YaHei"/>
              </a:defRPr>
            </a:pPr>
            <a:r>
              <a:t>验证封面、章节、内容、互动、总结等页面在主流办公软件中的一致表现。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900" b="0">
                <a:solidFill>
                  <a:srgbClr val="627987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2011680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000" b="1">
                <a:solidFill>
                  <a:srgbClr val="E89B52"/>
                </a:solidFill>
                <a:latin typeface="Microsoft YaHei"/>
              </a:defRPr>
            </a:pPr>
            <a:r>
              <a:t>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744200" cy="51206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400" b="1">
                <a:solidFill>
                  <a:srgbClr val="183042"/>
                </a:solidFill>
                <a:latin typeface="Microsoft YaHei"/>
              </a:defRPr>
            </a:pPr>
            <a:r>
              <a:t>内容与讲授分段保持同源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61288"/>
            <a:ext cx="10863072" cy="18288"/>
          </a:xfrm>
          <a:prstGeom prst="rect">
            <a:avLst/>
          </a:prstGeom>
          <a:solidFill>
            <a:srgbClr val="2F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5358384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627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39"/>
            <a:ext cx="48463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2F7E83"/>
                </a:solidFill>
                <a:latin typeface="Microsoft YaHei"/>
              </a:defRPr>
            </a:pPr>
            <a:r>
              <a:t>教学内容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1920240"/>
            <a:ext cx="4864608" cy="4069079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</a:defRPr>
            </a:pPr>
            <a:r>
              <a:t>正文｜系统根据教师意图生成结构化教学内容；预览与导出读取同一组节点字段。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</a:defRPr>
            </a:pPr>
            <a:r>
              <a:t>• 要点｜type / node_type 双字段兼容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</a:defRPr>
            </a:pPr>
            <a:r>
              <a:t>• 要点｜key_points / core_points 合并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</a:defRPr>
            </a:pPr>
            <a:r>
              <a:t>• 要点｜所有文本保持可编辑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298448"/>
            <a:ext cx="5321808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627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463039"/>
            <a:ext cx="4809744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2F7E83"/>
                </a:solidFill>
                <a:latin typeface="Microsoft YaHei"/>
              </a:defRPr>
            </a:pPr>
            <a:r>
              <a:t>讲授分段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828032" cy="4069079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</a:defRPr>
            </a:pPr>
            <a:r>
              <a:t>导入 · 30秒｜用“为什么同一份数据会导出不同页面？”导入。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</a:defRPr>
            </a:pPr>
            <a:r>
              <a:t>讲解 · 1分30秒｜讲解预览与导出统一识别规则，并展示中文顿号、引号。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</a:defRPr>
            </a:pPr>
            <a:r>
              <a:t>互动 · 45秒｜请学生判断：A、字段缺失；B、类型冲突；C、模板失配。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900" b="0">
                <a:solidFill>
                  <a:srgbClr val="627987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2011680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000" b="1">
                <a:solidFill>
                  <a:srgbClr val="E89B52"/>
                </a:solidFill>
                <a:latin typeface="Microsoft YaHei"/>
              </a:defRPr>
            </a:pPr>
            <a:r>
              <a:t>TWO COLUMN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744200" cy="51206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400" b="1">
                <a:solidFill>
                  <a:srgbClr val="183042"/>
                </a:solidFill>
                <a:latin typeface="Microsoft YaHei"/>
              </a:defRPr>
            </a:pPr>
            <a:r>
              <a:t>双栏布局把要点与讲授过程并列呈现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61288"/>
            <a:ext cx="10863072" cy="18288"/>
          </a:xfrm>
          <a:prstGeom prst="rect">
            <a:avLst/>
          </a:prstGeom>
          <a:solidFill>
            <a:srgbClr val="2F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5102352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627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39"/>
            <a:ext cx="4590288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2F7E83"/>
                </a:solidFill>
                <a:latin typeface="Microsoft YaHei"/>
              </a:defRPr>
            </a:pPr>
            <a:r>
              <a:t>核心要点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1920240"/>
            <a:ext cx="4608576" cy="4069079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</a:defRPr>
            </a:pPr>
            <a:r>
              <a:t>• 要点｜左栏只呈现核心结论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</a:defRPr>
            </a:pPr>
            <a:r>
              <a:t>• 要点｜要点间距稳定，不产生文字溢出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</a:defRPr>
            </a:pPr>
            <a:r>
              <a:t>• 要点｜栏间保留清晰视觉间隔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1298448"/>
            <a:ext cx="5376672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627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39"/>
            <a:ext cx="4864608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2F7E83"/>
                </a:solidFill>
                <a:latin typeface="Microsoft YaHei"/>
              </a:defRPr>
            </a:pPr>
            <a:r>
              <a:t>讲授分段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1656" y="1920240"/>
            <a:ext cx="4882896" cy="4069079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</a:defRPr>
            </a:pPr>
            <a:r>
              <a:t>讲解 · 1分钟｜右栏展示讲授类型、文本与预估时长。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</a:defRPr>
            </a:pPr>
            <a:r>
              <a:t>示例 · 50秒｜示例：算法复杂度从 O(n²) 优化到 O(n log n)。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</a:defRPr>
            </a:pPr>
            <a:r>
              <a:t>小结 · 35秒｜小结：左右栏内容职责明确，版式语义稳定。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900" b="0">
                <a:solidFill>
                  <a:srgbClr val="627987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2011680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000" b="1">
                <a:solidFill>
                  <a:srgbClr val="E89B52"/>
                </a:solidFill>
                <a:latin typeface="Microsoft YaHei"/>
              </a:defRPr>
            </a:pPr>
            <a:r>
              <a:t>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744200" cy="51206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400" b="1">
                <a:solidFill>
                  <a:srgbClr val="183042"/>
                </a:solidFill>
                <a:latin typeface="Microsoft YaHei"/>
              </a:defRPr>
            </a:pPr>
            <a:r>
              <a:t>课堂互动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61288"/>
            <a:ext cx="10863072" cy="18288"/>
          </a:xfrm>
          <a:prstGeom prst="rect">
            <a:avLst/>
          </a:prstGeom>
          <a:solidFill>
            <a:srgbClr val="2F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463040"/>
            <a:ext cx="530352" cy="530352"/>
          </a:xfrm>
          <a:prstGeom prst="roundRect">
            <a:avLst/>
          </a:prstGeom>
          <a:solidFill>
            <a:srgbClr val="E89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81328"/>
            <a:ext cx="530352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1444752"/>
            <a:ext cx="9646920" cy="74980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2400" b="0">
                <a:solidFill>
                  <a:srgbClr val="183042"/>
                </a:solidFill>
                <a:latin typeface="Microsoft YaHei"/>
              </a:defRPr>
            </a:pPr>
            <a:r>
              <a:t>预览与导出应优先读取哪个页面类型字段？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395728"/>
            <a:ext cx="530352" cy="530352"/>
          </a:xfrm>
          <a:prstGeom prst="roundRect">
            <a:avLst/>
          </a:prstGeom>
          <a:solidFill>
            <a:srgbClr val="E89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414016"/>
            <a:ext cx="530352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6192" y="2377440"/>
            <a:ext cx="9646920" cy="74980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2400" b="0">
                <a:solidFill>
                  <a:srgbClr val="183042"/>
                </a:solidFill>
                <a:latin typeface="Microsoft YaHei"/>
              </a:defRPr>
            </a:pPr>
            <a:r>
              <a:t>当 segments 为空时，双栏右侧展示什么内容？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900" b="0">
                <a:solidFill>
                  <a:srgbClr val="627987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2011680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000" b="1">
                <a:solidFill>
                  <a:srgbClr val="E89B52"/>
                </a:solidFill>
                <a:latin typeface="Microsoft YaHei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744200" cy="51206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400" b="1">
                <a:solidFill>
                  <a:srgbClr val="183042"/>
                </a:solidFill>
                <a:latin typeface="Microsoft YaHei"/>
              </a:defRPr>
            </a:pPr>
            <a:r>
              <a:t>验证结论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61288"/>
            <a:ext cx="10863072" cy="18288"/>
          </a:xfrm>
          <a:prstGeom prst="rect">
            <a:avLst/>
          </a:prstGeom>
          <a:solidFill>
            <a:srgbClr val="2F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353312"/>
            <a:ext cx="82296" cy="4709160"/>
          </a:xfrm>
          <a:prstGeom prst="rect">
            <a:avLst/>
          </a:prstGeom>
          <a:solidFill>
            <a:srgbClr val="E89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7552" y="1600200"/>
            <a:ext cx="164592" cy="164592"/>
          </a:xfrm>
          <a:prstGeom prst="ellipse">
            <a:avLst/>
          </a:prstGeom>
          <a:solidFill>
            <a:srgbClr val="2F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89888" y="1481328"/>
            <a:ext cx="9555480" cy="61264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2500" b="0">
                <a:solidFill>
                  <a:srgbClr val="183042"/>
                </a:solidFill>
                <a:latin typeface="Microsoft YaHei"/>
              </a:defRPr>
            </a:pPr>
            <a:r>
              <a:t>文件结构符合 OOXML</a:t>
            </a:r>
          </a:p>
        </p:txBody>
      </p:sp>
      <p:sp>
        <p:nvSpPr>
          <p:cNvPr id="9" name="Oval 8"/>
          <p:cNvSpPr/>
          <p:nvPr/>
        </p:nvSpPr>
        <p:spPr>
          <a:xfrm>
            <a:off x="987552" y="2313432"/>
            <a:ext cx="164592" cy="164592"/>
          </a:xfrm>
          <a:prstGeom prst="ellipse">
            <a:avLst/>
          </a:prstGeom>
          <a:solidFill>
            <a:srgbClr val="2F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9888" y="2194560"/>
            <a:ext cx="9555480" cy="61264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2500" b="0">
                <a:solidFill>
                  <a:srgbClr val="183042"/>
                </a:solidFill>
                <a:latin typeface="Microsoft YaHei"/>
              </a:defRPr>
            </a:pPr>
            <a:r>
              <a:t>所有文本和形状可编辑</a:t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3026664"/>
            <a:ext cx="164592" cy="164592"/>
          </a:xfrm>
          <a:prstGeom prst="ellipse">
            <a:avLst/>
          </a:prstGeom>
          <a:solidFill>
            <a:srgbClr val="2F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89888" y="2907792"/>
            <a:ext cx="9555480" cy="61264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2500" b="0">
                <a:solidFill>
                  <a:srgbClr val="183042"/>
                </a:solidFill>
                <a:latin typeface="Microsoft YaHei"/>
              </a:defRPr>
            </a:pPr>
            <a:r>
              <a:t>中文标点显示完整</a:t>
            </a:r>
          </a:p>
        </p:txBody>
      </p:sp>
      <p:sp>
        <p:nvSpPr>
          <p:cNvPr id="13" name="Oval 12"/>
          <p:cNvSpPr/>
          <p:nvPr/>
        </p:nvSpPr>
        <p:spPr>
          <a:xfrm>
            <a:off x="987552" y="3739896"/>
            <a:ext cx="164592" cy="164592"/>
          </a:xfrm>
          <a:prstGeom prst="ellipse">
            <a:avLst/>
          </a:prstGeom>
          <a:solidFill>
            <a:srgbClr val="2F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9888" y="3621024"/>
            <a:ext cx="9555480" cy="61264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2500" b="0">
                <a:solidFill>
                  <a:srgbClr val="183042"/>
                </a:solidFill>
                <a:latin typeface="Microsoft YaHei"/>
              </a:defRPr>
            </a:pPr>
            <a:r>
              <a:t>双栏与分段信息均正常呈现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wps_compat_test</dc:title>
  <dc:subject>多模态 AI 互动式教学课件</dc:subject>
  <dc:creator>多模态 AI 互动式教学智能体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