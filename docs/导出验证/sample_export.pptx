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4361EE"/>
            </a:gs>
            <a:gs pos="100000">
              <a:srgbClr val="7209B7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027664" y="246888"/>
            <a:ext cx="566928" cy="283464"/>
          </a:xfrm>
          <a:prstGeom prst="roundRect">
            <a:avLst/>
          </a:prstGeom>
          <a:solidFill>
            <a:srgbClr val="7209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045952" y="278892"/>
            <a:ext cx="530352" cy="1828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no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  <a:ea typeface="微软雅黑"/>
              </a:defRPr>
            </a:pPr>
            <a:r>
              <a:rPr sz="900" b="0">
                <a:solidFill>
                  <a:srgbClr val="FFFFFF"/>
                </a:solidFill>
                <a:latin typeface="Microsoft YaHei"/>
                <a:ea typeface="微软雅黑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965960"/>
            <a:ext cx="10149840" cy="1508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noAutofit/>
          </a:bodyPr>
          <a:lstStyle/>
          <a:p>
            <a:pPr algn="l">
              <a:defRPr sz="5000" b="1">
                <a:solidFill>
                  <a:srgbClr val="FFFFFF"/>
                </a:solidFill>
                <a:latin typeface="Microsoft YaHei"/>
                <a:ea typeface="微软雅黑"/>
              </a:defRPr>
            </a:pPr>
            <a:r>
              <a:rPr sz="5000" b="1">
                <a:solidFill>
                  <a:srgbClr val="FFFFFF"/>
                </a:solidFill>
                <a:latin typeface="Microsoft YaHei"/>
                <a:ea typeface="微软雅黑"/>
              </a:rPr>
              <a:t>排序算法教学课件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3703320"/>
            <a:ext cx="8961120" cy="8686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Microsoft YaHei"/>
                <a:ea typeface="微软雅黑"/>
              </a:defRPr>
            </a:pPr>
            <a:r>
              <a:rPr sz="2800" b="0">
                <a:solidFill>
                  <a:srgbClr val="FFFFFF"/>
                </a:solidFill>
                <a:latin typeface="Microsoft YaHei"/>
                <a:ea typeface="微软雅黑"/>
              </a:rPr>
              <a:t>从直观比较到分治优化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660136"/>
            <a:ext cx="31089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Microsoft YaHei"/>
                <a:ea typeface="微软雅黑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  <a:ea typeface="微软雅黑"/>
              </a:rPr>
              <a:t>通用教学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72585"/>
            </a:gs>
            <a:gs pos="100000">
              <a:srgbClr val="7209B7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027664" y="246888"/>
            <a:ext cx="566928" cy="283464"/>
          </a:xfrm>
          <a:prstGeom prst="roundRect">
            <a:avLst/>
          </a:prstGeom>
          <a:solidFill>
            <a:srgbClr val="7209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045952" y="278892"/>
            <a:ext cx="530352" cy="1828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no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  <a:ea typeface="微软雅黑"/>
              </a:defRPr>
            </a:pPr>
            <a:r>
              <a:rPr sz="900" b="0">
                <a:solidFill>
                  <a:srgbClr val="FFFFFF"/>
                </a:solidFill>
                <a:latin typeface="Microsoft YaHei"/>
                <a:ea typeface="微软雅黑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115568"/>
            <a:ext cx="210312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Microsoft YaHei"/>
                <a:ea typeface="微软雅黑"/>
              </a:defRPr>
            </a:pPr>
            <a:r>
              <a:rPr sz="4600" b="1">
                <a:solidFill>
                  <a:srgbClr val="FFFFFF"/>
                </a:solidFill>
                <a:latin typeface="Microsoft YaHei"/>
                <a:ea typeface="微软雅黑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2331720"/>
            <a:ext cx="10149840" cy="12344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no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Microsoft YaHei"/>
                <a:ea typeface="微软雅黑"/>
              </a:defRPr>
            </a:pPr>
            <a:r>
              <a:rPr sz="4200" b="1">
                <a:solidFill>
                  <a:srgbClr val="FFFFFF"/>
                </a:solidFill>
                <a:latin typeface="Microsoft YaHei"/>
                <a:ea typeface="微软雅黑"/>
              </a:rPr>
              <a:t>第一章 排序算法概述</a:t>
            </a:r>
          </a:p>
        </p:txBody>
      </p:sp>
      <p:sp>
        <p:nvSpPr>
          <p:cNvPr id="6" name="Rectangle 5"/>
          <p:cNvSpPr/>
          <p:nvPr/>
        </p:nvSpPr>
        <p:spPr>
          <a:xfrm>
            <a:off x="950976" y="3675887"/>
            <a:ext cx="68580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3950208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300" b="0">
                <a:solidFill>
                  <a:srgbClr val="FFFFFF"/>
                </a:solidFill>
                <a:latin typeface="Microsoft YaHei"/>
                <a:ea typeface="微软雅黑"/>
              </a:defRPr>
            </a:pPr>
            <a:r>
              <a:rPr sz="2300" b="0">
                <a:solidFill>
                  <a:srgbClr val="FFFFFF"/>
                </a:solidFill>
                <a:latin typeface="Microsoft YaHei"/>
                <a:ea typeface="微软雅黑"/>
              </a:rPr>
              <a:t>理解常见排序算法的思想与复杂度差异。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027664" y="246888"/>
            <a:ext cx="566928" cy="283464"/>
          </a:xfrm>
          <a:prstGeom prst="roundRect">
            <a:avLst/>
          </a:prstGeom>
          <a:solidFill>
            <a:srgbClr val="EE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045952" y="278892"/>
            <a:ext cx="530352" cy="1828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noAutofit/>
          </a:bodyPr>
          <a:lstStyle/>
          <a:p>
            <a:pPr algn="ctr">
              <a:defRPr sz="900" b="0">
                <a:solidFill>
                  <a:srgbClr val="5F6C84"/>
                </a:solidFill>
                <a:latin typeface="Microsoft YaHei"/>
                <a:ea typeface="微软雅黑"/>
              </a:defRPr>
            </a:pPr>
            <a:r>
              <a:rPr sz="900" b="0">
                <a:solidFill>
                  <a:srgbClr val="5F6C84"/>
                </a:solidFill>
                <a:latin typeface="Microsoft YaHei"/>
                <a:ea typeface="微软雅黑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F72585"/>
                </a:solidFill>
                <a:latin typeface="Microsoft YaHei"/>
                <a:ea typeface="微软雅黑"/>
              </a:defRPr>
            </a:pPr>
            <a:r>
              <a:rPr sz="1000" b="1">
                <a:solidFill>
                  <a:srgbClr val="F72585"/>
                </a:solidFill>
                <a:latin typeface="Microsoft YaHei"/>
                <a:ea typeface="微软雅黑"/>
              </a:rPr>
              <a:t>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0080"/>
            <a:ext cx="1001268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400" b="1">
                <a:solidFill>
                  <a:srgbClr val="1A1A2E"/>
                </a:solidFill>
                <a:latin typeface="Microsoft YaHei"/>
                <a:ea typeface="微软雅黑"/>
              </a:defRPr>
            </a:pPr>
            <a:r>
              <a:rPr sz="3400" b="1">
                <a:solidFill>
                  <a:srgbClr val="1A1A2E"/>
                </a:solidFill>
                <a:latin typeface="Microsoft YaHei"/>
                <a:ea typeface="微软雅黑"/>
              </a:rPr>
              <a:t>冒泡排序与快速排序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61288"/>
            <a:ext cx="10863072" cy="18288"/>
          </a:xfrm>
          <a:prstGeom prst="rect">
            <a:avLst/>
          </a:prstGeom>
          <a:solidFill>
            <a:srgbClr val="7209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298448"/>
            <a:ext cx="5358384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5F6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39"/>
            <a:ext cx="48463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500" b="1">
                <a:solidFill>
                  <a:srgbClr val="7209B7"/>
                </a:solidFill>
                <a:latin typeface="Microsoft YaHei"/>
                <a:ea typeface="微软雅黑"/>
              </a:defRPr>
            </a:pPr>
            <a:r>
              <a:rPr sz="1500" b="1">
                <a:solidFill>
                  <a:srgbClr val="7209B7"/>
                </a:solidFill>
                <a:latin typeface="Microsoft YaHei"/>
                <a:ea typeface="微软雅黑"/>
              </a:rPr>
              <a:t>教学内容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1920240"/>
            <a:ext cx="4864608" cy="4069079"/>
          </a:xfrm>
          <a:prstGeom prst="rect">
            <a:avLst/>
          </a:prstGeom>
          <a:noFill/>
        </p:spPr>
        <p:txBody>
          <a:bodyPr wrap="square" lIns="27432" rIns="27432" tIns="18288" bIns="18288">
            <a:no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A1A2E"/>
                </a:solidFill>
                <a:latin typeface="Microsoft YaHei"/>
                <a:ea typeface="微软雅黑"/>
              </a:defRPr>
            </a:pPr>
            <a:r>
              <a:rPr sz="1800">
                <a:solidFill>
                  <a:srgbClr val="1A1A2E"/>
                </a:solidFill>
                <a:latin typeface="Microsoft YaHei"/>
                <a:ea typeface="微软雅黑"/>
              </a:rPr>
              <a:t>正文｜冒泡排序通过相邻元素两两比较将最大值逐步移动到末尾，实现简单但平均复杂度为 O(n²)。快速排序采用分治思想，选取基准元素将序列划分为两部分，平均复杂度 O(n log n)。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A1A2E"/>
                </a:solidFill>
                <a:latin typeface="Microsoft YaHei"/>
                <a:ea typeface="微软雅黑"/>
              </a:defRPr>
            </a:pPr>
            <a:r>
              <a:rPr sz="1800">
                <a:solidFill>
                  <a:srgbClr val="1A1A2E"/>
                </a:solidFill>
                <a:latin typeface="Microsoft YaHei"/>
                <a:ea typeface="微软雅黑"/>
              </a:rPr>
              <a:t>• 要点｜冒泡排序：稳定，O(n²)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A1A2E"/>
                </a:solidFill>
                <a:latin typeface="Microsoft YaHei"/>
                <a:ea typeface="微软雅黑"/>
              </a:defRPr>
            </a:pPr>
            <a:r>
              <a:rPr sz="1800">
                <a:solidFill>
                  <a:srgbClr val="1A1A2E"/>
                </a:solidFill>
                <a:latin typeface="Microsoft YaHei"/>
                <a:ea typeface="微软雅黑"/>
              </a:rPr>
              <a:t>• 要点｜快速排序：不稳定，平均 O(n log 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298448"/>
            <a:ext cx="5321808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5F6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1463039"/>
            <a:ext cx="4809744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500" b="1">
                <a:solidFill>
                  <a:srgbClr val="7209B7"/>
                </a:solidFill>
                <a:latin typeface="Microsoft YaHei"/>
                <a:ea typeface="微软雅黑"/>
              </a:defRPr>
            </a:pPr>
            <a:r>
              <a:rPr sz="1500" b="1">
                <a:solidFill>
                  <a:srgbClr val="7209B7"/>
                </a:solidFill>
                <a:latin typeface="Microsoft YaHei"/>
                <a:ea typeface="微软雅黑"/>
              </a:rPr>
              <a:t>讲授分段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920240"/>
            <a:ext cx="4828032" cy="4069079"/>
          </a:xfrm>
          <a:prstGeom prst="rect">
            <a:avLst/>
          </a:prstGeom>
          <a:noFill/>
        </p:spPr>
        <p:txBody>
          <a:bodyPr wrap="square" lIns="27432" rIns="27432" tIns="18288" bIns="18288">
            <a:no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A1A2E"/>
                </a:solidFill>
                <a:latin typeface="Microsoft YaHei"/>
                <a:ea typeface="微软雅黑"/>
              </a:defRPr>
            </a:pPr>
            <a:r>
              <a:rPr sz="1800">
                <a:solidFill>
                  <a:srgbClr val="1A1A2E"/>
                </a:solidFill>
                <a:latin typeface="Microsoft YaHei"/>
                <a:ea typeface="微软雅黑"/>
              </a:rPr>
              <a:t>讲解 · 2分钟｜先演示冒泡排序的一轮比较过程。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A1A2E"/>
                </a:solidFill>
                <a:latin typeface="Microsoft YaHei"/>
                <a:ea typeface="微软雅黑"/>
              </a:defRPr>
            </a:pPr>
            <a:r>
              <a:rPr sz="1800">
                <a:solidFill>
                  <a:srgbClr val="1A1A2E"/>
                </a:solidFill>
                <a:latin typeface="Microsoft YaHei"/>
                <a:ea typeface="微软雅黑"/>
              </a:rPr>
              <a:t>互动 · 3分钟｜请学生手动模拟对 [5, 3, 8, 1] 的一轮冒泡。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027664" y="246888"/>
            <a:ext cx="566928" cy="283464"/>
          </a:xfrm>
          <a:prstGeom prst="roundRect">
            <a:avLst/>
          </a:prstGeom>
          <a:solidFill>
            <a:srgbClr val="EE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045952" y="278892"/>
            <a:ext cx="530352" cy="1828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noAutofit/>
          </a:bodyPr>
          <a:lstStyle/>
          <a:p>
            <a:pPr algn="ctr">
              <a:defRPr sz="900" b="0">
                <a:solidFill>
                  <a:srgbClr val="5F6C84"/>
                </a:solidFill>
                <a:latin typeface="Microsoft YaHei"/>
                <a:ea typeface="微软雅黑"/>
              </a:defRPr>
            </a:pPr>
            <a:r>
              <a:rPr sz="900" b="0">
                <a:solidFill>
                  <a:srgbClr val="5F6C84"/>
                </a:solidFill>
                <a:latin typeface="Microsoft YaHei"/>
                <a:ea typeface="微软雅黑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F72585"/>
                </a:solidFill>
                <a:latin typeface="Microsoft YaHei"/>
                <a:ea typeface="微软雅黑"/>
              </a:defRPr>
            </a:pPr>
            <a:r>
              <a:rPr sz="1000" b="1">
                <a:solidFill>
                  <a:srgbClr val="F72585"/>
                </a:solidFill>
                <a:latin typeface="Microsoft YaHei"/>
                <a:ea typeface="微软雅黑"/>
              </a:rPr>
              <a:t>INTERACTION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0080"/>
            <a:ext cx="1001268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400" b="1">
                <a:solidFill>
                  <a:srgbClr val="1A1A2E"/>
                </a:solidFill>
                <a:latin typeface="Microsoft YaHei"/>
                <a:ea typeface="微软雅黑"/>
              </a:defRPr>
            </a:pPr>
            <a:r>
              <a:rPr sz="3400" b="1">
                <a:solidFill>
                  <a:srgbClr val="1A1A2E"/>
                </a:solidFill>
                <a:latin typeface="Microsoft YaHei"/>
                <a:ea typeface="微软雅黑"/>
              </a:rPr>
              <a:t>课堂练习：排序算法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61288"/>
            <a:ext cx="10863072" cy="18288"/>
          </a:xfrm>
          <a:prstGeom prst="rect">
            <a:avLst/>
          </a:prstGeom>
          <a:solidFill>
            <a:srgbClr val="7209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417320"/>
            <a:ext cx="530352" cy="530352"/>
          </a:xfrm>
          <a:prstGeom prst="roundRect">
            <a:avLst/>
          </a:prstGeom>
          <a:solidFill>
            <a:srgbClr val="F72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35608"/>
            <a:ext cx="53035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Microsoft YaHei"/>
                <a:ea typeface="微软雅黑"/>
              </a:defRPr>
            </a:pPr>
            <a:r>
              <a:rPr sz="1700" b="1">
                <a:solidFill>
                  <a:srgbClr val="FFFFFF"/>
                </a:solidFill>
                <a:latin typeface="Microsoft YaHei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1399032"/>
            <a:ext cx="9646920" cy="7498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Microsoft YaHei"/>
                <a:ea typeface="微软雅黑"/>
              </a:defRPr>
            </a:pPr>
            <a:r>
              <a:rPr sz="2400" b="1">
                <a:solidFill>
                  <a:srgbClr val="1A1A2E"/>
                </a:solidFill>
                <a:latin typeface="Microsoft YaHei"/>
                <a:ea typeface="微软雅黑"/>
              </a:rPr>
              <a:t>快速排序的平均时间复杂度是？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2167128"/>
            <a:ext cx="9646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500" b="0">
                <a:solidFill>
                  <a:srgbClr val="1A1A2E"/>
                </a:solidFill>
                <a:latin typeface="Microsoft YaHei"/>
                <a:ea typeface="微软雅黑"/>
              </a:defRPr>
            </a:pPr>
            <a:r>
              <a:rPr sz="1500" b="0">
                <a:solidFill>
                  <a:srgbClr val="1A1A2E"/>
                </a:solidFill>
                <a:latin typeface="Microsoft YaHei"/>
                <a:ea typeface="微软雅黑"/>
              </a:rPr>
              <a:t>A．O(n)    B．O(n log n)    C．O(n²)    D．O(log 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2807208"/>
            <a:ext cx="964692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300" b="1">
                <a:solidFill>
                  <a:srgbClr val="7209B7"/>
                </a:solidFill>
                <a:latin typeface="Microsoft YaHei"/>
                <a:ea typeface="微软雅黑"/>
              </a:defRPr>
            </a:pPr>
            <a:r>
              <a:rPr sz="1300" b="1">
                <a:solidFill>
                  <a:srgbClr val="7209B7"/>
                </a:solidFill>
                <a:latin typeface="Microsoft YaHei"/>
                <a:ea typeface="微软雅黑"/>
              </a:rPr>
              <a:t>参考答案：B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530352" cy="530352"/>
          </a:xfrm>
          <a:prstGeom prst="roundRect">
            <a:avLst/>
          </a:prstGeom>
          <a:solidFill>
            <a:srgbClr val="F72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675887"/>
            <a:ext cx="53035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Microsoft YaHei"/>
                <a:ea typeface="微软雅黑"/>
              </a:defRPr>
            </a:pPr>
            <a:r>
              <a:rPr sz="1700" b="1">
                <a:solidFill>
                  <a:srgbClr val="FFFFFF"/>
                </a:solidFill>
                <a:latin typeface="Microsoft YaHei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3639312"/>
            <a:ext cx="9646920" cy="7498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Microsoft YaHei"/>
                <a:ea typeface="微软雅黑"/>
              </a:defRPr>
            </a:pPr>
            <a:r>
              <a:rPr sz="2400" b="1">
                <a:solidFill>
                  <a:srgbClr val="1A1A2E"/>
                </a:solidFill>
                <a:latin typeface="Microsoft YaHei"/>
                <a:ea typeface="微软雅黑"/>
              </a:rPr>
              <a:t>下列哪种排序算法是稳定的？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4407408"/>
            <a:ext cx="964692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800" b="0">
                <a:solidFill>
                  <a:srgbClr val="1A1A2E"/>
                </a:solidFill>
                <a:latin typeface="Microsoft YaHei"/>
                <a:ea typeface="微软雅黑"/>
              </a:defRPr>
            </a:pPr>
            <a:r>
              <a:rPr sz="1800" b="0">
                <a:solidFill>
                  <a:srgbClr val="1A1A2E"/>
                </a:solidFill>
                <a:latin typeface="Microsoft YaHei"/>
                <a:ea typeface="微软雅黑"/>
              </a:rPr>
              <a:t>A．快速排序    B．堆排序    C．冒泡排序    D．选择排序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5047488"/>
            <a:ext cx="964692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300" b="1">
                <a:solidFill>
                  <a:srgbClr val="7209B7"/>
                </a:solidFill>
                <a:latin typeface="Microsoft YaHei"/>
                <a:ea typeface="微软雅黑"/>
              </a:defRPr>
            </a:pPr>
            <a:r>
              <a:rPr sz="1300" b="1">
                <a:solidFill>
                  <a:srgbClr val="7209B7"/>
                </a:solidFill>
                <a:latin typeface="Microsoft YaHei"/>
                <a:ea typeface="微软雅黑"/>
              </a:rPr>
              <a:t>参考答案：C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027664" y="246888"/>
            <a:ext cx="566928" cy="283464"/>
          </a:xfrm>
          <a:prstGeom prst="roundRect">
            <a:avLst/>
          </a:prstGeom>
          <a:solidFill>
            <a:srgbClr val="EE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045952" y="278892"/>
            <a:ext cx="530352" cy="1828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noAutofit/>
          </a:bodyPr>
          <a:lstStyle/>
          <a:p>
            <a:pPr algn="ctr">
              <a:defRPr sz="900" b="0">
                <a:solidFill>
                  <a:srgbClr val="5F6C84"/>
                </a:solidFill>
                <a:latin typeface="Microsoft YaHei"/>
                <a:ea typeface="微软雅黑"/>
              </a:defRPr>
            </a:pPr>
            <a:r>
              <a:rPr sz="900" b="0">
                <a:solidFill>
                  <a:srgbClr val="5F6C84"/>
                </a:solidFill>
                <a:latin typeface="Microsoft YaHei"/>
                <a:ea typeface="微软雅黑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F72585"/>
                </a:solidFill>
                <a:latin typeface="Microsoft YaHei"/>
                <a:ea typeface="微软雅黑"/>
              </a:defRPr>
            </a:pPr>
            <a:r>
              <a:rPr sz="1000" b="1">
                <a:solidFill>
                  <a:srgbClr val="F72585"/>
                </a:solidFill>
                <a:latin typeface="Microsoft YaHei"/>
                <a:ea typeface="微软雅黑"/>
              </a:rPr>
              <a:t>INTERACTION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0080"/>
            <a:ext cx="1001268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400" b="1">
                <a:solidFill>
                  <a:srgbClr val="1A1A2E"/>
                </a:solidFill>
                <a:latin typeface="Microsoft YaHei"/>
                <a:ea typeface="微软雅黑"/>
              </a:defRPr>
            </a:pPr>
            <a:r>
              <a:rPr sz="3400" b="1">
                <a:solidFill>
                  <a:srgbClr val="1A1A2E"/>
                </a:solidFill>
                <a:latin typeface="Microsoft YaHei"/>
                <a:ea typeface="微软雅黑"/>
              </a:rPr>
              <a:t>课堂练习：排序算法（续）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61288"/>
            <a:ext cx="10863072" cy="18288"/>
          </a:xfrm>
          <a:prstGeom prst="rect">
            <a:avLst/>
          </a:prstGeom>
          <a:solidFill>
            <a:srgbClr val="7209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417320"/>
            <a:ext cx="530352" cy="530352"/>
          </a:xfrm>
          <a:prstGeom prst="roundRect">
            <a:avLst/>
          </a:prstGeom>
          <a:solidFill>
            <a:srgbClr val="F72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35608"/>
            <a:ext cx="530352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Microsoft YaHei"/>
                <a:ea typeface="微软雅黑"/>
              </a:defRPr>
            </a:pPr>
            <a:r>
              <a:rPr sz="1700" b="1">
                <a:solidFill>
                  <a:srgbClr val="FFFFFF"/>
                </a:solidFill>
                <a:latin typeface="Microsoft YaHei"/>
                <a:ea typeface="微软雅黑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1399032"/>
            <a:ext cx="9646920" cy="74980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Microsoft YaHei"/>
                <a:ea typeface="微软雅黑"/>
              </a:defRPr>
            </a:pPr>
            <a:r>
              <a:rPr sz="2400" b="1">
                <a:solidFill>
                  <a:srgbClr val="1A1A2E"/>
                </a:solidFill>
                <a:latin typeface="Microsoft YaHei"/>
                <a:ea typeface="微软雅黑"/>
              </a:rPr>
              <a:t>开放题：结合本节内容说明什么场景下应选择插入排序。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027664" y="246888"/>
            <a:ext cx="566928" cy="283464"/>
          </a:xfrm>
          <a:prstGeom prst="roundRect">
            <a:avLst/>
          </a:prstGeom>
          <a:solidFill>
            <a:srgbClr val="EEF1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045952" y="278892"/>
            <a:ext cx="530352" cy="1828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noAutofit/>
          </a:bodyPr>
          <a:lstStyle/>
          <a:p>
            <a:pPr algn="ctr">
              <a:defRPr sz="900" b="0">
                <a:solidFill>
                  <a:srgbClr val="5F6C84"/>
                </a:solidFill>
                <a:latin typeface="Microsoft YaHei"/>
                <a:ea typeface="微软雅黑"/>
              </a:defRPr>
            </a:pPr>
            <a:r>
              <a:rPr sz="900" b="0">
                <a:solidFill>
                  <a:srgbClr val="5F6C84"/>
                </a:solidFill>
                <a:latin typeface="Microsoft YaHei"/>
                <a:ea typeface="微软雅黑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6576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F72585"/>
                </a:solidFill>
                <a:latin typeface="Microsoft YaHei"/>
                <a:ea typeface="微软雅黑"/>
              </a:defRPr>
            </a:pPr>
            <a:r>
              <a:rPr sz="1000" b="1">
                <a:solidFill>
                  <a:srgbClr val="F72585"/>
                </a:solidFill>
                <a:latin typeface="Microsoft YaHei"/>
                <a:ea typeface="微软雅黑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40080"/>
            <a:ext cx="1001268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400" b="1">
                <a:solidFill>
                  <a:srgbClr val="1A1A2E"/>
                </a:solidFill>
                <a:latin typeface="Microsoft YaHei"/>
                <a:ea typeface="微软雅黑"/>
              </a:defRPr>
            </a:pPr>
            <a:r>
              <a:rPr sz="3400" b="1">
                <a:solidFill>
                  <a:srgbClr val="1A1A2E"/>
                </a:solidFill>
                <a:latin typeface="Microsoft YaHei"/>
                <a:ea typeface="微软雅黑"/>
              </a:rPr>
              <a:t>本节小结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61288"/>
            <a:ext cx="10863072" cy="18288"/>
          </a:xfrm>
          <a:prstGeom prst="rect">
            <a:avLst/>
          </a:prstGeom>
          <a:solidFill>
            <a:srgbClr val="7209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353312"/>
            <a:ext cx="82296" cy="4709160"/>
          </a:xfrm>
          <a:prstGeom prst="rect">
            <a:avLst/>
          </a:prstGeom>
          <a:solidFill>
            <a:srgbClr val="436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7552" y="1600200"/>
            <a:ext cx="164592" cy="164592"/>
          </a:xfrm>
          <a:prstGeom prst="ellipse">
            <a:avLst/>
          </a:prstGeom>
          <a:solidFill>
            <a:srgbClr val="436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481328"/>
            <a:ext cx="9555480" cy="6126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A1A2E"/>
                </a:solidFill>
                <a:latin typeface="Microsoft YaHei"/>
                <a:ea typeface="微软雅黑"/>
              </a:defRPr>
            </a:pPr>
            <a:r>
              <a:rPr sz="2500" b="0">
                <a:solidFill>
                  <a:srgbClr val="1A1A2E"/>
                </a:solidFill>
                <a:latin typeface="Microsoft YaHei"/>
                <a:ea typeface="微软雅黑"/>
              </a:rPr>
              <a:t>冒泡排序简单但慢</a:t>
            </a:r>
          </a:p>
        </p:txBody>
      </p:sp>
      <p:sp>
        <p:nvSpPr>
          <p:cNvPr id="10" name="Oval 9"/>
          <p:cNvSpPr/>
          <p:nvPr/>
        </p:nvSpPr>
        <p:spPr>
          <a:xfrm>
            <a:off x="987552" y="2313432"/>
            <a:ext cx="164592" cy="164592"/>
          </a:xfrm>
          <a:prstGeom prst="ellipse">
            <a:avLst/>
          </a:prstGeom>
          <a:solidFill>
            <a:srgbClr val="436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194560"/>
            <a:ext cx="9555480" cy="6126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A1A2E"/>
                </a:solidFill>
                <a:latin typeface="Microsoft YaHei"/>
                <a:ea typeface="微软雅黑"/>
              </a:defRPr>
            </a:pPr>
            <a:r>
              <a:rPr sz="2500" b="0">
                <a:solidFill>
                  <a:srgbClr val="1A1A2E"/>
                </a:solidFill>
                <a:latin typeface="Microsoft YaHei"/>
                <a:ea typeface="微软雅黑"/>
              </a:rPr>
              <a:t>快排分治高效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026664"/>
            <a:ext cx="164592" cy="164592"/>
          </a:xfrm>
          <a:prstGeom prst="ellipse">
            <a:avLst/>
          </a:prstGeom>
          <a:solidFill>
            <a:srgbClr val="436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907792"/>
            <a:ext cx="9555480" cy="6126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A1A2E"/>
                </a:solidFill>
                <a:latin typeface="Microsoft YaHei"/>
                <a:ea typeface="微软雅黑"/>
              </a:defRPr>
            </a:pPr>
            <a:r>
              <a:rPr sz="2500" b="0">
                <a:solidFill>
                  <a:srgbClr val="1A1A2E"/>
                </a:solidFill>
                <a:latin typeface="Microsoft YaHei"/>
                <a:ea typeface="微软雅黑"/>
              </a:rPr>
              <a:t>稳定性影响工程选型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排序算法教学课件</dc:title>
  <dc:subject>多模态 AI 互动式教学课件</dc:subject>
  <dc:creator>多模态 AI 互动式教学智能体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