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10312" y="6327648"/>
            <a:ext cx="11978640" cy="530352"/>
          </a:xfrm>
          <a:prstGeom prst="rect">
            <a:avLst/>
          </a:prstGeom>
          <a:solidFill>
            <a:srgbClr val="5F63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965960"/>
            <a:ext cx="10149840" cy="1508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noAutofit/>
          </a:bodyPr>
          <a:lstStyle/>
          <a:p>
            <a:pPr algn="l">
              <a:defRPr sz="5000" b="1">
                <a:solidFill>
                  <a:srgbClr val="FFFFFF"/>
                </a:solidFill>
                <a:latin typeface="Microsoft YaHei"/>
              </a:defRPr>
            </a:pPr>
            <a:r>
              <a:t>课程主题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3703320"/>
            <a:ext cx="8961120" cy="8686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授课对象 · 课时 · 教学目标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660136"/>
            <a:ext cx="31089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简约教学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900" b="0">
                <a:solidFill>
                  <a:srgbClr val="6B707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1A73E8"/>
                </a:solidFill>
                <a:latin typeface="Microsoft YaHe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74420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202124"/>
                </a:solidFill>
                <a:latin typeface="Microsoft YaHei"/>
              </a:defRPr>
            </a:pPr>
            <a:r>
              <a:t>课程目录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5F63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64008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900" b="1">
                <a:solidFill>
                  <a:srgbClr val="1A73E8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399032"/>
            <a:ext cx="937260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202124"/>
                </a:solidFill>
                <a:latin typeface="Microsoft YaHei"/>
              </a:defRPr>
            </a:pPr>
            <a:r>
              <a:t>课程导入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1691640" y="1911095"/>
            <a:ext cx="9098280" cy="10972"/>
          </a:xfrm>
          <a:prstGeom prst="rect">
            <a:avLst/>
          </a:prstGeom>
          <a:solidFill>
            <a:srgbClr val="6B70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21408"/>
            <a:ext cx="64008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900" b="1">
                <a:solidFill>
                  <a:srgbClr val="1A73E8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103120"/>
            <a:ext cx="937260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202124"/>
                </a:solidFill>
                <a:latin typeface="Microsoft YaHei"/>
              </a:defRPr>
            </a:pPr>
            <a:r>
              <a:t>核心概念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91640" y="2615184"/>
            <a:ext cx="9098280" cy="10972"/>
          </a:xfrm>
          <a:prstGeom prst="rect">
            <a:avLst/>
          </a:prstGeom>
          <a:solidFill>
            <a:srgbClr val="6B70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25496"/>
            <a:ext cx="64008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900" b="1">
                <a:solidFill>
                  <a:srgbClr val="1A73E8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807208"/>
            <a:ext cx="937260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202124"/>
                </a:solidFill>
                <a:latin typeface="Microsoft YaHei"/>
              </a:defRPr>
            </a:pPr>
            <a:r>
              <a:t>案例实践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91640" y="3319272"/>
            <a:ext cx="9098280" cy="10972"/>
          </a:xfrm>
          <a:prstGeom prst="rect">
            <a:avLst/>
          </a:prstGeom>
          <a:solidFill>
            <a:srgbClr val="6B70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29584"/>
            <a:ext cx="64008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900" b="1">
                <a:solidFill>
                  <a:srgbClr val="1A73E8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511296"/>
            <a:ext cx="937260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202124"/>
                </a:solidFill>
                <a:latin typeface="Microsoft YaHei"/>
              </a:defRPr>
            </a:pPr>
            <a:r>
              <a:t>总结提升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91640" y="4023360"/>
            <a:ext cx="9098280" cy="10972"/>
          </a:xfrm>
          <a:prstGeom prst="rect">
            <a:avLst/>
          </a:prstGeom>
          <a:solidFill>
            <a:srgbClr val="6B70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900" b="0">
                <a:solidFill>
                  <a:srgbClr val="6B707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1A73E8"/>
                </a:solidFill>
                <a:latin typeface="Microsoft YaHei"/>
              </a:defRPr>
            </a:pPr>
            <a:r>
              <a:t>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74420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202124"/>
                </a:solidFill>
                <a:latin typeface="Microsoft YaHei"/>
              </a:defRPr>
            </a:pPr>
            <a:r>
              <a:t>核心内容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5F63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298448"/>
            <a:ext cx="5358384" cy="4892040"/>
          </a:xfrm>
          <a:prstGeom prst="roundRect">
            <a:avLst/>
          </a:prstGeom>
          <a:solidFill>
            <a:srgbClr val="F7F8F9"/>
          </a:solidFill>
          <a:ln>
            <a:solidFill>
              <a:srgbClr val="6B7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39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500" b="1">
                <a:solidFill>
                  <a:srgbClr val="5F6368"/>
                </a:solidFill>
                <a:latin typeface="Microsoft YaHei"/>
              </a:defRPr>
            </a:pPr>
            <a:r>
              <a:t>教学内容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1920240"/>
            <a:ext cx="4864608" cy="4069079"/>
          </a:xfrm>
          <a:prstGeom prst="rect">
            <a:avLst/>
          </a:prstGeom>
          <a:noFill/>
        </p:spPr>
        <p:txBody>
          <a:bodyPr wrap="square" lIns="27432" rIns="27432" tIns="18288" bIns="18288">
            <a:no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202124"/>
                </a:solidFill>
                <a:latin typeface="Microsoft YaHei"/>
              </a:defRPr>
            </a:pPr>
            <a:r>
              <a:t>正文｜在这里填写本页的关键概念、方法或案例。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202124"/>
                </a:solidFill>
                <a:latin typeface="Microsoft YaHei"/>
              </a:defRPr>
            </a:pPr>
            <a:r>
              <a:t>• 要点｜教学要点一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202124"/>
                </a:solidFill>
                <a:latin typeface="Microsoft YaHei"/>
              </a:defRPr>
            </a:pPr>
            <a:r>
              <a:t>• 要点｜教学要点二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98448"/>
            <a:ext cx="5321808" cy="4892040"/>
          </a:xfrm>
          <a:prstGeom prst="roundRect">
            <a:avLst/>
          </a:prstGeom>
          <a:solidFill>
            <a:srgbClr val="F7F8F9"/>
          </a:solidFill>
          <a:ln>
            <a:solidFill>
              <a:srgbClr val="6B7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463039"/>
            <a:ext cx="4809744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500" b="1">
                <a:solidFill>
                  <a:srgbClr val="5F6368"/>
                </a:solidFill>
                <a:latin typeface="Microsoft YaHei"/>
              </a:defRPr>
            </a:pPr>
            <a:r>
              <a:t>讲授分段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4828032" cy="4069079"/>
          </a:xfrm>
          <a:prstGeom prst="rect">
            <a:avLst/>
          </a:prstGeom>
          <a:noFill/>
        </p:spPr>
        <p:txBody>
          <a:bodyPr wrap="square" lIns="27432" rIns="27432" tIns="18288" bIns="18288">
            <a:no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202124"/>
                </a:solidFill>
                <a:latin typeface="Microsoft YaHei"/>
              </a:defRPr>
            </a:pPr>
            <a:r>
              <a:t>导入 · 30秒｜用问题或场景引入本页。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202124"/>
                </a:solidFill>
                <a:latin typeface="Microsoft YaHei"/>
              </a:defRPr>
            </a:pPr>
            <a:r>
              <a:t>讲解 · 1分30秒｜讲清概念，并连接学生已有知识。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202124"/>
                </a:solidFill>
                <a:latin typeface="Microsoft YaHei"/>
              </a:defRPr>
            </a:pPr>
            <a:r>
              <a:t>互动 · 45秒｜设置一个可现场回应的问题。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900" b="0">
                <a:solidFill>
                  <a:srgbClr val="6B707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1A73E8"/>
                </a:solidFill>
                <a:latin typeface="Microsoft YaHei"/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74420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202124"/>
                </a:solidFill>
                <a:latin typeface="Microsoft YaHei"/>
              </a:defRPr>
            </a:pPr>
            <a:r>
              <a:t>本节小结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5F63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353312"/>
            <a:ext cx="82296" cy="470916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7552" y="1600200"/>
            <a:ext cx="164592" cy="164592"/>
          </a:xfrm>
          <a:prstGeom prst="ellipse">
            <a:avLst/>
          </a:prstGeom>
          <a:solidFill>
            <a:srgbClr val="5F63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89888" y="1481328"/>
            <a:ext cx="9555480" cy="6126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202124"/>
                </a:solidFill>
                <a:latin typeface="Microsoft YaHei"/>
              </a:defRPr>
            </a:pPr>
            <a:r>
              <a:t>回顾核心结论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2313432"/>
            <a:ext cx="164592" cy="164592"/>
          </a:xfrm>
          <a:prstGeom prst="ellipse">
            <a:avLst/>
          </a:prstGeom>
          <a:solidFill>
            <a:srgbClr val="5F63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2194560"/>
            <a:ext cx="9555480" cy="6126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202124"/>
                </a:solidFill>
                <a:latin typeface="Microsoft YaHei"/>
              </a:defRPr>
            </a:pPr>
            <a:r>
              <a:t>检查学习目标</a:t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3026664"/>
            <a:ext cx="164592" cy="164592"/>
          </a:xfrm>
          <a:prstGeom prst="ellipse">
            <a:avLst/>
          </a:prstGeom>
          <a:solidFill>
            <a:srgbClr val="5F63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9888" y="2907792"/>
            <a:ext cx="9555480" cy="6126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202124"/>
                </a:solidFill>
                <a:latin typeface="Microsoft YaHei"/>
              </a:defRPr>
            </a:pPr>
            <a:r>
              <a:t>说明课后应用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教学课件模板</dc:title>
  <dc:subject>多模态 AI 互动式教学课件</dc:subject>
  <dc:creator>多模态 AI 互动式教学智能体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